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8288000" cy="10287000"/>
  <p:notesSz cx="6858000" cy="9144000"/>
  <p:embeddedFontLst>
    <p:embeddedFont>
      <p:font typeface="Aptos Bold" charset="1" panose="020B0004020202020204"/>
      <p:regular r:id="rId25"/>
    </p:embeddedFont>
    <p:embeddedFont>
      <p:font typeface="Aptos" charset="1" panose="020B0004020202020204"/>
      <p:regular r:id="rId26"/>
    </p:embeddedFont>
    <p:embeddedFont>
      <p:font typeface="Segoe UI Bold" charset="1" panose="020B0802040204020203"/>
      <p:regular r:id="rId30"/>
    </p:embeddedFont>
    <p:embeddedFont>
      <p:font typeface="Calibri (MS)" charset="1" panose="020F0502020204030204"/>
      <p:regular r:id="rId31"/>
    </p:embeddedFont>
    <p:embeddedFont>
      <p:font typeface="Calibri (MS) Bold" charset="1" panose="020F0702030404030204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Masters/notesMaster1.xml" Type="http://schemas.openxmlformats.org/officeDocument/2006/relationships/notesMaster"/><Relationship Id="rId28" Target="theme/theme2.xml" Type="http://schemas.openxmlformats.org/officeDocument/2006/relationships/theme"/><Relationship Id="rId29" Target="notesSlides/notesSlide1.xml" Type="http://schemas.openxmlformats.org/officeDocument/2006/relationships/notes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32" Target="fonts/font32.fntdata" Type="http://schemas.openxmlformats.org/officeDocument/2006/relationships/font"/><Relationship Id="rId33" Target="notesSlides/notesSlide2.xml" Type="http://schemas.openxmlformats.org/officeDocument/2006/relationships/notesSlide"/><Relationship Id="rId34" Target="notesSlides/notesSlide3.xml" Type="http://schemas.openxmlformats.org/officeDocument/2006/relationships/notesSlide"/><Relationship Id="rId35" Target="notesSlides/notesSlide4.xml" Type="http://schemas.openxmlformats.org/officeDocument/2006/relationships/notesSlide"/><Relationship Id="rId36" Target="notesSlides/notesSlide5.xml" Type="http://schemas.openxmlformats.org/officeDocument/2006/relationships/notesSlide"/><Relationship Id="rId37" Target="notesSlides/notesSlide6.xml" Type="http://schemas.openxmlformats.org/officeDocument/2006/relationships/notesSlide"/><Relationship Id="rId38" Target="notesSlides/notesSlide7.xml" Type="http://schemas.openxmlformats.org/officeDocument/2006/relationships/notesSlide"/><Relationship Id="rId39" Target="notesSlides/notesSlide8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9.xml" Type="http://schemas.openxmlformats.org/officeDocument/2006/relationships/notesSlide"/><Relationship Id="rId41" Target="notesSlides/notesSlide10.xml" Type="http://schemas.openxmlformats.org/officeDocument/2006/relationships/notesSlide"/><Relationship Id="rId42" Target="notesSlides/notesSlide11.xml" Type="http://schemas.openxmlformats.org/officeDocument/2006/relationships/notesSlide"/><Relationship Id="rId43" Target="notesSlides/notesSlide12.xml" Type="http://schemas.openxmlformats.org/officeDocument/2006/relationships/notesSlide"/><Relationship Id="rId44" Target="notesSlides/notesSlide13.xml" Type="http://schemas.openxmlformats.org/officeDocument/2006/relationships/notesSlide"/><Relationship Id="rId45" Target="notesSlides/notesSlide14.xml" Type="http://schemas.openxmlformats.org/officeDocument/2006/relationships/notesSlide"/><Relationship Id="rId46" Target="notesSlides/notesSlide15.xml" Type="http://schemas.openxmlformats.org/officeDocument/2006/relationships/notesSlide"/><Relationship Id="rId47" Target="notesSlides/notesSlide16.xml" Type="http://schemas.openxmlformats.org/officeDocument/2006/relationships/notesSlide"/><Relationship Id="rId48" Target="notesSlides/notesSlide17.xml" Type="http://schemas.openxmlformats.org/officeDocument/2006/relationships/notesSlid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"Olá a todos, saudações ao professor e aos colegas. Meu nome é Kevin Luís Alves de Lima e, juntamente com o meu colega Lázaro Felipe da Rocha Santos, apresento hoje o nosso trabalho final de pré-processamento e engenharia de dados em Inteligência Artificial aplicada à saúde pública.</a:t>
            </a:r>
          </a:p>
          <a:p>
            <a:r>
              <a:rPr lang="en-US"/>
              <a:t>Nosso estudo tem como foco a predição precoce do desfecho clínico de Cura versus Óbito por Tuberculose Pulmonar, a partir da coorte nacional de notificações do SINAN entre 2014 e 2024.</a:t>
            </a:r>
          </a:p>
          <a:p>
            <a:r>
              <a:rPr lang="en-US"/>
              <a:t>Construímos um pipeline reprodutível de ponta a ponta, estritamente blindado contra qualquer vazamento de dados, respeitando os marcos legais brasileiros de proteção à infância e ao idoso e fundamentado na teoria estatística clássica.</a:t>
            </a:r>
          </a:p>
          <a:p>
            <a:r>
              <a:rPr lang="en-US"/>
              <a:t>Nossa apresentação está dividida em duas partes: eu conduzirei a primeira metade, cobrindo o diagnóstico de dados faltantes, a limpeza guiada pelo dicionário e as regras fixas de negócio; e o Lázaro apresentará a segunda parte, abordando o filtro pós-óbito, a discretização etária, a partição estratificada, a seleção univariada e o balanceamento de classes."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Abertura formal e boas-vindas à banca.</a:t>
            </a:r>
          </a:p>
          <a:p>
            <a:r>
              <a:rPr lang="en-US"/>
              <a:t>• Apresentação do tema: IA aplicada à vigilância em saúde (SINAN/SUS 2014-2024).</a:t>
            </a:r>
          </a:p>
          <a:p>
            <a:r>
              <a:rPr lang="en-US"/>
              <a:t>• Objetivo: Predição precoce de Cura vs Óbito por TB pulmonar sem data leakage.</a:t>
            </a:r>
          </a:p>
          <a:p>
            <a:r>
              <a:rPr lang="en-US"/>
              <a:t>• Divisão formal: Kevin (Slides 1 a 9) e Lázaro (Slides 10 a 18).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"Para compreender o impacto deste trabalho, precisamos situar a gravidade da tuberculose. Embora o Brasil ofereça diagnóstico e tratamento cem por cento gratuitos e universais pelo SUS, a doença ceifa milhares de vidas todos os anos, atingindo de forma desproporcional populações em extrema vulnerabilidade social.</a:t>
            </a:r>
          </a:p>
          <a:p>
            <a:r>
              <a:rPr lang="en-US"/>
              <a:t>O nosso objetivo central não é apenas treinar um algoritmo, mas construir uma base de modelagem de alta fidelidade ecológica capaz de apoiar a tomada de decisão médica no momento exato em que o paciente entra no sistema de saúde. Queremos antecipar, na atenção primária, quem tem risco elevado de óbito para priorizar visitas domiciliares e o tratamento supervisionado.</a:t>
            </a:r>
          </a:p>
          <a:p>
            <a:r>
              <a:rPr lang="en-US"/>
              <a:t>Contudo, trabalhar com dados do SINAN impõe um imenso desafio técnico: são dados secundários preenchidos por milhares de municípios, contendo campos administrativos, dados faltantes e eventos registrados após o desfecho que poderiam invalidar qualquer modelo se não fossem tratados adequadamente."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Relevância epidemiológica: TB é emergência de saúde pública persistente no Brasil.</a:t>
            </a:r>
          </a:p>
          <a:p>
            <a:r>
              <a:rPr lang="en-US"/>
              <a:t>• Propósito prático: IA no ponto de cuidado (atenção primária / UBS).</a:t>
            </a:r>
          </a:p>
          <a:p>
            <a:r>
              <a:rPr lang="en-US"/>
              <a:t>• Desafio metodológico: dados secundários descentralizados com risco de target leakage.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"Para garantir total robustez técnica, estruturamos nosso trabalho em um fluxo de seis etapas consecutivas, cobrindo o que foi desenvolvido ao longo de todas as atividades da disciplina.</a:t>
            </a:r>
          </a:p>
          <a:p>
            <a:r>
              <a:rPr lang="en-US"/>
              <a:t>Partimos de uma base massiva de 884 mil casos e 108 colunas. Na primeira etapa, analisamos a completude e os valores faltantes. Na segunda, realizamos a triagem pelo dicionário de dados. Na terceira, consolidamos o desfecho binário e aplicamos quatro regras fixas de exclusão.</a:t>
            </a:r>
          </a:p>
          <a:p>
            <a:r>
              <a:rPr lang="en-US"/>
              <a:t>A partir da quarta etapa, que será detalhada pelo Lázaro, eliminamos o vazamento do pós-óbito, discretizamos a idade em marcos legais, separamos treino e teste de forma estratificada e cega, ranqueamos os preditores por métricas de efeito e balanceamos o treino por subamostragem aleatória. Vamos detalhar agora como cada etapa foi executada."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Visão panorâmica das 6 etapas exigidas no pré-processamento.</a:t>
            </a:r>
          </a:p>
          <a:p>
            <a:r>
              <a:rPr lang="en-US"/>
              <a:t>• Alinhamento estrito com as Atividades 1, 2, 3 e 4.</a:t>
            </a:r>
          </a:p>
          <a:p>
            <a:r>
              <a:rPr lang="en-US"/>
              <a:t>• Progressão lógica: do diagnóstico à preparação para algoritmos supervisionados.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"Na primeira atividade, o foco foi mensurar a qualidade cadastral dos dados. Ao carregar o arquivo CSV, utilizamos o parâmetro keep_default_na=False do pandas. Por que isso foi fundamental? Porque no SINAN os campos em branco não vêm marcados como NaN tradicional; eles entram como strings vazias. Se fizéssemos uma checagem simples de nulos, mascararíamos a ausência de preenchimento.</a:t>
            </a:r>
          </a:p>
          <a:p>
            <a:r>
              <a:rPr lang="en-US"/>
              <a:t>Identificamos exatamente 4 variáveis com 100,00% de dados ausentes (CS_FLXRET, FLXRECEBI, DT_TRANSRM e IDADEminutos) e outras 7 variáveis com mais de 97% a 99% de incompletude, totalizando 11 colunas no topo do diagnóstico cadastral. Além disso, 38 colunas na base original superavam o corte de 60% de ausência.</a:t>
            </a:r>
          </a:p>
          <a:p>
            <a:r>
              <a:rPr lang="en-US"/>
              <a:t>Essa catalogação inicial permitiu ranquear rigorosamente todas as 108 variáveis e forneceu o substrato empírico para as regras de corte subsequentes."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Uso obrigatório de keep_default_na=False para capturar strings vazias.</a:t>
            </a:r>
          </a:p>
          <a:p>
            <a:r>
              <a:rPr lang="en-US"/>
              <a:t>• Exatamente 4 colunas 100% vazias, 8 com &gt;99% e 11 com &gt;97% de dados faltantes.</a:t>
            </a:r>
          </a:p>
          <a:p>
            <a:r>
              <a:rPr lang="en-US"/>
              <a:t>• Fundamentação em Little &amp; Rubin (2019): ausência como sinal clínico informativo.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"Na Atividade 2, confrontamos a base com o Dicionário de Dados oficial do SINAN. Identificamos que diversas colunas eram meros identificadores de sistema ou metadados de fluxo hospitalar sem significado prognóstico, como códigos de agravo e chaves operacionais.</a:t>
            </a:r>
          </a:p>
          <a:p>
            <a:r>
              <a:rPr lang="en-US"/>
              <a:t>Estabelecemos o limiar de corte de 60% de incompletude para descarte de atributos com preenchimento precário na série histórica. Nessa fase preliminar, removemos 49 colunas, retendo 58 atributos preditores candidatos e isolando estritamente a variável SITUA_ENCE como alvo do estudo.</a:t>
            </a:r>
          </a:p>
          <a:p>
            <a:r>
              <a:rPr lang="en-US"/>
              <a:t>Foi um passo importante de depuração inicial, embora tenhamos percebido a necessidade de resgatar as 108 colunas brutas do backup na Atividade 3 para assegurar a permanência de variáveis sociais determinantes e aplicar regras fixas definitivas."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Triagem baseada no Dicionário do SINAN e corte de 60% de faltantes.</a:t>
            </a:r>
          </a:p>
          <a:p>
            <a:r>
              <a:rPr lang="en-US"/>
              <a:t>• Balanço: 108 $_x000D_ightarrow$ 49 removidas $_x000D_ightarrow$ 58 preditoras + 1 alvo isolado.</a:t>
            </a:r>
          </a:p>
          <a:p>
            <a:r>
              <a:rPr lang="en-US"/>
              <a:t>• Justificativa da transição para a Parte II oficial com resgate do backup.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"Ao avançarmos para a Atividade 3, adotamos uma postura metodológica rigorosa: resgatamos integralmente as 108 colunas originais do backup para evitar que decisões preliminares da Atividade 2 descartassem prematuramente variáveis sociais importantes, como a população em situação de rua.</a:t>
            </a:r>
          </a:p>
          <a:p>
            <a:r>
              <a:rPr lang="en-US"/>
              <a:t>A partir desse resgate, executamos a única filtragem de linhas permitida nas regras de negócio: a definição da nossa coorte analítica. Selecionamos exclusivamente os pacientes que tiveram desfecho definitivo de Cura ou Óbito por Tuberculose.</a:t>
            </a:r>
          </a:p>
          <a:p>
            <a:r>
              <a:rPr lang="en-US"/>
              <a:t>Pacientes com abandono, transferência ou falecidos por outras causas foram removidos, totalizando 280 mil exclusões.</a:t>
            </a:r>
          </a:p>
          <a:p>
            <a:r>
              <a:rPr lang="en-US"/>
              <a:t>Consolidamos assim uma coorte de 603.413 registros válidos, mapeando Cura como 0 e Óbito por TB como 1. A coluna de encerramento original foi separada e jamais utilizada como preditor."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Resgate das 108 colunas originais a partir do backup bruto.</a:t>
            </a:r>
          </a:p>
          <a:p>
            <a:r>
              <a:rPr lang="en-US"/>
              <a:t>• Restrição aos desfechos Cura (0) e Óbito por TB (1): 603.413 registros retidos (68,24%).</a:t>
            </a:r>
          </a:p>
          <a:p>
            <a:r>
              <a:rPr lang="en-US"/>
              <a:t>• Remoção de 280.808 casos com desfechos concorrentes ou não informativos.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"Em seguida, implementamos a engenharia de variáveis no momento do diagnóstico. O SINAN armazena a idade de forma codificada em quatro dígitos, onde o primeiro indica a unidade de tempo. Desenvolvemos um decodificador que converteu horas, dias e meses de recém-nascidos para zero anos e preservou centenários legítimos, evitando o truncamento da coluna bruta.</a:t>
            </a:r>
          </a:p>
          <a:p>
            <a:r>
              <a:rPr lang="en-US"/>
              <a:t>Extraímos o ano de diagnóstico e agrupamos os mais de 5.200 municípios brasileiros em Unidades da Federação e Macrorregiões, eliminando problemas de alta cardinalidade.</a:t>
            </a:r>
          </a:p>
          <a:p>
            <a:r>
              <a:rPr lang="en-US"/>
              <a:t>Além disso, transformamos códigos impossíveis e sentinelas da variável de contatos examinados em valores nulos.</a:t>
            </a:r>
          </a:p>
          <a:p>
            <a:r>
              <a:rPr lang="en-US"/>
              <a:t>Respondendo pontualmente às diretrizes docentes sobre a semântica do 'Não se aplica', constatamos que em gestantes a ausência decorria de a maioria da coorte ser masculina, o que ultrapassava 74% de perda de informação, justificando seu descarte; já na baciloscopia de escarro, a impossibilidade de expectorar foi unificada como 'Faltante', preservando o exame no modelo."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Decodificação precisa de NU_IDADE_N corrigindo truncamento de centenários.</a:t>
            </a:r>
          </a:p>
          <a:p>
            <a:r>
              <a:rPr lang="en-US"/>
              <a:t>• Agregação territorial de 5.200 municípios em SG_UF (27) e REGIAO (5).</a:t>
            </a:r>
          </a:p>
          <a:p>
            <a:r>
              <a:rPr lang="en-US"/>
              <a:t>• Tratamento contextual do 'Não se aplica': CS_GESTANT descartada (74,67%) vs BACILOSC_E unificada em 'Faltante'.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1 (KEVIN LUÍS ALVES DE LIMA):</a:t>
            </a:r>
          </a:p>
          <a:p>
            <a:r>
              <a:rPr lang="en-US"/>
              <a:t/>
            </a:r>
          </a:p>
          <a:p>
            <a:r>
              <a:rPr lang="en-US"/>
              <a:t>"Para filtrar as variáveis que realmente importam sem correr risco de overfitting ou leakage antes de qualquer partição, aplicamos quatro regras fixas de negócio.</a:t>
            </a:r>
          </a:p>
          <a:p>
            <a:r>
              <a:rPr lang="en-US"/>
              <a:t>Primeiro: descartamos colunas com mais de 99% de valores constantes. Segundo: eliminamos variáveis com mais de 60% de incompletude, o que incluiu drogas específicas do esquema terapêutico e culturas com altíssima taxa de ausência. Terceiro: removemos atributos redundantes já englobados pelas variáveis derivadas. E quarto: excluímos categoricamente qualquer dado com vazamento temporal, como baciloscopias de acompanhamento feitas após o início do tratamento e datas de encerramento.</a:t>
            </a:r>
          </a:p>
          <a:p>
            <a:r>
              <a:rPr lang="en-US"/>
              <a:t>Ao final desse processo, documentado na íntegra no catálogo de 108 colunas que geramos em CSV, chegamos a exatamente 26 variáveis preditoras candidatas e uma variável de desfecho. Cumprimos assim a meta de dimensionar a base entre 20 e 30 atributos.</a:t>
            </a:r>
          </a:p>
          <a:p>
            <a:r>
              <a:rPr lang="en-US"/>
              <a:t>Passo agora a palavra ao Lázaro, que apresentará a modelagem, o isolamento de treino e teste, a seleção univariada e os resultados de balanceamento."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4 regras fixas: constantes (&gt;99%), faltantes (&gt;60%), redundantes e vazamento temporal.</a:t>
            </a:r>
          </a:p>
          <a:p>
            <a:r>
              <a:rPr lang="en-US"/>
              <a:t>• 108 colunas originais -&gt; 84 descartadas -&gt; 24 mantidas + 2 derivadas = 26 preditoras.</a:t>
            </a:r>
          </a:p>
          <a:p>
            <a:r>
              <a:rPr lang="en-US"/>
              <a:t>• Transição de fala para o Integrante 2 (Lázaro).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TRANSIÇÃO FORMAL (KEVIN $\rightarrow$ LÁZARO):</a:t>
            </a:r>
          </a:p>
          <a:p>
            <a:r>
              <a:rPr lang="en-US"/>
              <a:t/>
            </a:r>
          </a:p>
          <a:p>
            <a:r>
              <a:rPr lang="en-US"/>
              <a:t>[KEVIN]: "...Passo agora a palavra ao Lázaro, que apresentará a modelagem, o isolamento de treino e teste, a seleção univariada e os resultados de balanceamento."</a:t>
            </a:r>
          </a:p>
          <a:p>
            <a:r>
              <a:rPr lang="en-US"/>
              <a:t/>
            </a:r>
          </a:p>
          <a:p>
            <a:r>
              <a:rPr lang="en-US"/>
              <a:t>[LÁZARO]: "Obrigado, Kevin. Olá a todos, sou o Lázaro e darei continuidade à nossa apresentação.</a:t>
            </a:r>
          </a:p>
          <a:p>
            <a:r>
              <a:rPr lang="en-US"/>
              <a:t>Até aqui, temos um conjunto estruturado com 26 atributos preditores candidatos na coorte de 603 mil casos.</a:t>
            </a:r>
          </a:p>
          <a:p>
            <a:r>
              <a:rPr lang="en-US"/>
              <a:t>A partir deste ponto, entramos na modelagem preditiva estrita da Atividade 4. Minha responsabilidade é demonstrar como blindamos nosso modelo contra qualquer forma de vazamento de dados, como fundamentamos a faixa etária nas leis brasileiras, como separamos treino e teste de forma absolutamente cega, como selecionamos os 22 melhores preditores e como balanceamos as classes para treinamento supervisionado.</a:t>
            </a:r>
          </a:p>
          <a:p>
            <a:r>
              <a:rPr lang="en-US"/>
              <a:t>Vamos iniciar pela correção crucial do vazamento pós-óbito."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Transição de fala explícita e fluida entre os dois integrantes.</a:t>
            </a:r>
          </a:p>
          <a:p>
            <a:r>
              <a:rPr lang="en-US"/>
              <a:t>• Recapitulação sintética das conquistas da Parte I.</a:t>
            </a:r>
          </a:p>
          <a:p>
            <a:r>
              <a:rPr lang="en-US"/>
              <a:t>• Apresentação do roteiro dos slides 10 a 18 por Lázaro.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"Ao inspecionarmos minuciosamente a variável TRATAMENTO, que discrimina o tipo de entrada do paciente no sistema, fizemos uma descoberta crítica: existiam 4.095 pacientes registrados com o rótulo 'Pós-óbito'.</a:t>
            </a:r>
          </a:p>
          <a:p>
            <a:r>
              <a:rPr lang="en-US"/>
              <a:t>Ao cruzar essa informação com o desfecho, constatamos que 4.089 desses pacientes haviam falecido de tuberculose, o que equivale a estarrecedores 99,85% de óbitos na entrada.</a:t>
            </a:r>
          </a:p>
          <a:p>
            <a:r>
              <a:rPr lang="en-US"/>
              <a:t>Essa notificação é feita quando o indivíduo falece em domicílio ou no hospital sem diagnóstico em vida, sendo cadastrado tardiamente por laudo de necropsia do SVO ou pela Declaração de Óbito.</a:t>
            </a:r>
          </a:p>
          <a:p>
            <a:r>
              <a:rPr lang="en-US"/>
              <a:t>Manter esses pacientes em um modelo que se propõe a prever o prognóstico de um paciente vivo na primeira consulta representaria um caso gravíssimo de vazamento de alvo por causalidade reversa. O algoritmo simplesmente aprenderia que ter entrada 'pós-óbito' significa morrer.</a:t>
            </a:r>
          </a:p>
          <a:p>
            <a:r>
              <a:rPr lang="en-US"/>
              <a:t>Removemos esses 4.095 casos e mapeamos o sentinela 'Não sabe' para faltante, reduzindo a coorte para 599.318 casos clinicamente legítimos, cuja taxa de letalidade real é de 5,10%."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Identificação forense de 4.095 casos pós-óbito (99,85% óbitos por TB).</a:t>
            </a:r>
          </a:p>
          <a:p>
            <a:r>
              <a:rPr lang="en-US"/>
              <a:t>• Eliminação de target leakage por causalidade reversa (notificações via SVO/DO).</a:t>
            </a:r>
          </a:p>
          <a:p>
            <a:r>
              <a:rPr lang="en-US"/>
              <a:t>• Coorte final consolidada para modelagem: 599.318 registros (letalidade real de 5,10%).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"A idade cronológica contínua apresenta relação fortemente não linear com o óbito por TB. Por essa razão, discretizamos a idade em três faixas amparadas estritamente nas leis brasileiras e nas convenções internacionais.</a:t>
            </a:r>
          </a:p>
          <a:p>
            <a:r>
              <a:rPr lang="en-US"/>
              <a:t>A categoria 'Jovens', de 0 a 19 anos, fundamenta-se no Estatuto da Criança e do Adolescente — a Lei 8.069 de 1990 —, no Estatuto da Juventude e nos padrões da OMS e do IBGE.</a:t>
            </a:r>
          </a:p>
          <a:p>
            <a:r>
              <a:rPr lang="en-US"/>
              <a:t>A faixa de 'Adultos', de 20 a 59 anos, segue a delimitação da População em Idade Ativa adotada pelo Ministério da Saúde.</a:t>
            </a:r>
          </a:p>
          <a:p>
            <a:r>
              <a:rPr lang="en-US"/>
              <a:t>E a faixa de 'Idosos', com 60 anos ou mais, respalda-se no Estatuto da Pessoa Idosa — Lei 10.741 de 2003.</a:t>
            </a:r>
          </a:p>
          <a:p>
            <a:r>
              <a:rPr lang="en-US"/>
              <a:t>Para os 144 casos em que a idade não constava — exatamente 0,03% do treino —, recusamos veementemente a imputação determinística por média ou mediana. Segundo a teoria estatística clássica de Little e Rubin, a omissão de dados cadastrais no SUS representa ausência informativa, associada a moradores de rua e pacientes admitidos em choque séptico. Imputar uma mediana mascararia essa vulnerabilidade e atenuaria a variância amostral. Adotamos o missing-category approach, mantendo a categoria 'Faltante', que é perfeitamente interpretada por algoritmos de aprendizado de máquina."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Faixas legais: ECA (Lei 8.069/90), População em Idade Ativa (IBGE), Estatuto do Idoso (Lei 10.741/03).</a:t>
            </a:r>
          </a:p>
          <a:p>
            <a:r>
              <a:rPr lang="en-US"/>
              <a:t>• Teoria de Little &amp; Rubin (2019): ausência informativa (MAR/MNAR) preservada em 'Faltante' (144 casos).</a:t>
            </a:r>
          </a:p>
          <a:p>
            <a:r>
              <a:rPr lang="en-US"/>
              <a:t>• Rejeição de imputação por média/mediana para evitar atenuação artificial da variância.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"Com a base devidamente limpa, realizamos a separação entre treino e teste. Dividimos os 599 mil casos em 80% para treino e 20% para teste, utilizando amostragem aleatória estratificada pela variável alvo com a semente reprodutível 42.</a:t>
            </a:r>
          </a:p>
          <a:p>
            <a:r>
              <a:rPr lang="en-US"/>
              <a:t>A estratificação garantiu que tanto o treino — com 479 mil registros — quanto o teste — com quase 120 mil — preservassem rigorosamente a proporção natural de 94,90% de cura e 5,10% de óbito por TB.</a:t>
            </a:r>
          </a:p>
          <a:p>
            <a:r>
              <a:rPr lang="en-US"/>
              <a:t>Aqui entra o princípio inegociável do isolamento absoluto do teste: o conjunto de teste jamais foi consultado. Por exemplo, para a única variável numérica contínua, que é o número de contatos examinados, calculamos a mediana estritamente sobre as instâncias de treino, que resultou em 1,0 contato. Fixamos esse hiperparâmetro e o aplicamos de forma cega no teste. Nenhuma métrica de associação, ranqueamento ou balanceamento tocou o conjunto de teste."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Partição estratificada 80/20: Treino (479.454 casos) e Teste (119.864 casos), ambos com 5,10% de óbito.</a:t>
            </a:r>
          </a:p>
          <a:p>
            <a:r>
              <a:rPr lang="en-US"/>
              <a:t>• Isolamento absoluto do teste (strict hold-out): mediana calculada no treino (1,0) aplicada cegamente.</a:t>
            </a:r>
          </a:p>
          <a:p>
            <a:r>
              <a:rPr lang="en-US"/>
              <a:t>• Justificativa da estratificada sobre a temporal (prevenção de viés pandêmico).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"Na Etapa 5, executamos a seleção univariada de atributos baseada exclusivamente nos 479 mil registros de treino.</a:t>
            </a:r>
          </a:p>
          <a:p>
            <a:r>
              <a:rPr lang="en-US"/>
              <a:t>Um ponto metodológico crucial: em bases massivas como essa, testes de significância assintótica sofrem com poder estatístico próximo a 100%. Todas as 26 variáveis apresentaram p-valores infinitesimais, menores que dez elevado a menos 34. Portanto, o p-valor é inútil para ranquear a importância clínica real.</a:t>
            </a:r>
          </a:p>
          <a:p>
            <a:r>
              <a:rPr lang="en-US"/>
              <a:t>Empregamos como métrica o V de Cramér para as 25 variáveis categóricas e a correlação ponto-bisserial para contatos examinados.</a:t>
            </a:r>
          </a:p>
          <a:p>
            <a:r>
              <a:rPr lang="en-US"/>
              <a:t>Como resultado, retivemos os 22 melhores preditores com V maior ou igual a 0,0325, situando-se perfeitamente no intervalo requisitado de 20 a 30 variáveis.</a:t>
            </a:r>
          </a:p>
          <a:p>
            <a:r>
              <a:rPr lang="en-US"/>
              <a:t>Descartamos apenas quatro variáveis fracas: a baciloscopia de escarro inicial, que possuía redundância com o critério confirmatório; população de profissionais de saúde e imigrantes, que tinham frequência irrisória; e raça/cor, que obteve a menor associação univariada independente com o óbito."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Rejeição do p-valor para ranqueamento em Big Data (p &lt; 10^(-34) para todas).</a:t>
            </a:r>
          </a:p>
          <a:p>
            <a:r>
              <a:rPr lang="en-US"/>
              <a:t>• Ranqueamento por V de Cramér e ponto-bisserial restrito ao treino.</a:t>
            </a:r>
          </a:p>
          <a:p>
            <a:r>
              <a:rPr lang="en-US"/>
              <a:t>• Seleção do Top 22 mantidos (V &gt;= 0,0325) e 4 descartados com justificativa clínica.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"Ao chegarmos ao balanceamento de classes na Etapa 6, confrontamo-nos com uma escolha metodológica decisiva: NearMiss versus Random Undersampling.</a:t>
            </a:r>
          </a:p>
          <a:p>
            <a:r>
              <a:rPr lang="en-US"/>
              <a:t>Rejeitamos categoricamente o NearMiss por duas razões científicas. Primeiro, por inviabilidade matemática: em uma partição com 455 mil curas e 24 mil óbitos, o cálculo de vizinhos mais próximos exige mais de 11 bilhões de operações euclidianas, provocando estouro de memória e tempo de execução na escala de dezenas de horas. Segundo, por distorção clínica: o NearMiss escolhe instâncias na fronteira de decisão. Em dados do SUS, isso significa selecionar casos anômalos ou subnotificados, gerando sobreajuste severo.</a:t>
            </a:r>
          </a:p>
          <a:p>
            <a:r>
              <a:rPr lang="en-US"/>
              <a:t>Optamos pelo Random Undersampling 1:1 nativo. Ele opera em complexidade linear, preserva a diversidade geográfica dos curados e deixa o treino com um volume robusto de 48.870 casos perfeitamente equilibrados.</a:t>
            </a:r>
          </a:p>
          <a:p>
            <a:r>
              <a:rPr lang="en-US"/>
              <a:t>E, mais importante: o teste permaneceu com seus 5,10% de óbitos originais, porque avaliar métricas de precisão e calibração de risco em um teste balanceado artificialmente destruiria a validade clínica do modelo."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Rejeição matemática e computacional do NearMiss (11 bilhões de operações, risco de OOM).</a:t>
            </a:r>
          </a:p>
          <a:p>
            <a:r>
              <a:rPr lang="en-US"/>
              <a:t>• Virtudes do RUS 1:1: complexidade O(N), preservação da representatividade ecológica e 48.870 casos.</a:t>
            </a:r>
          </a:p>
          <a:p>
            <a:r>
              <a:rPr lang="en-US"/>
              <a:t>• Preservação absoluta do teste desbalanceado para validação realista.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"Esta tabela sintetiza com exatidão matemática o resultado do balanceamento, exportado para o arquivo tabela_proporcoes_balanceamento.csv.</a:t>
            </a:r>
          </a:p>
          <a:p>
            <a:r>
              <a:rPr lang="en-US"/>
              <a:t>Na primeira linha, vemos o treino antes do balanceamento, com seus 479 mil registros refletindo a realidade de 5,10% de óbitos.</a:t>
            </a:r>
          </a:p>
          <a:p>
            <a:r>
              <a:rPr lang="en-US"/>
              <a:t>Na segunda linha, temos o conjunto de treino balanceado após o undersampling: exatamente 24.435 curas sorteadas aleatoriamente e 24.435 óbitos preservados, totalizando 48.870 observações divididas em 50% para cada classe.</a:t>
            </a:r>
          </a:p>
          <a:p>
            <a:r>
              <a:rPr lang="en-US"/>
              <a:t>E na terceira linha, confirmamos a integridade absoluta do nosso conjunto de teste: 119.864 pacientes avaliados sob a taxa epidemiológica original de 5,10%.</a:t>
            </a:r>
          </a:p>
          <a:p>
            <a:r>
              <a:rPr lang="en-US"/>
              <a:t>Essa estrutura garante ao mesmo tempo capacidade de aprendizado equilibrada aos algoritmos e uma avaliação final de extrema fidelidade ao ambiente real do SUS."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Apresentação dos dados exatos de tabela_proporcoes_balanceamento.csv.</a:t>
            </a:r>
          </a:p>
          <a:p>
            <a:r>
              <a:rPr lang="en-US"/>
              <a:t>• Treino balanceado 1:1 com 48.870 instâncias (24.435 curas e 24.435 óbitos).</a:t>
            </a:r>
          </a:p>
          <a:p>
            <a:r>
              <a:rPr lang="en-US"/>
              <a:t>• Teste isolado com 119.864 instâncias e proporção real preservada de 5,10%.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INTEGRANTE 2 (LÁZARO FELIPE DA ROCHA SANTOS):</a:t>
            </a:r>
          </a:p>
          <a:p>
            <a:r>
              <a:rPr lang="en-US"/>
              <a:t/>
            </a:r>
          </a:p>
          <a:p>
            <a:r>
              <a:rPr lang="en-US"/>
              <a:t>"Para a análise gráfica exigida no Requisito 5, selecionamos o preditor clinicamente mais expressivo do nosso modelo: a FAIXA_ETARIA, que obteve a maior associação univariada geral do estudo (Top 1 geral), com V de Cramér de 0,1339 e qui-quadrado de 8.594,40.</a:t>
            </a:r>
          </a:p>
          <a:p>
            <a:r>
              <a:rPr lang="en-US"/>
              <a:t>O gráfico de barras foi gerado estritamente sobre o conjunto de treino pré-balanceamento com 479 mil instâncias. Por que pré-balanceamento? Porque se o gerássemos sobre o treino balanceado 1:1, a letalidade média seria artificialmente distorcida para 50%, destruindo o perfil epidemiológico real.</a:t>
            </a:r>
          </a:p>
          <a:p>
            <a:r>
              <a:rPr lang="en-US"/>
              <a:t>O gráfico revela um gradiente biológico monotônico impressionante: enquanto jovens de até 19 anos apresentam letalidade de 1,28%, a taxa triplica entre adultos, alcançando 4,07%, e atinge estarrecedores 12,11% entre os idosos com 60 anos ou mais.</a:t>
            </a:r>
          </a:p>
          <a:p>
            <a:r>
              <a:rPr lang="en-US"/>
              <a:t>O risco de óbito em idosos é quase dez vezes superior ao de jovens, reflexo direto da imunossenescência e da sobreposição de comorbidades crônicas como diabetes e cardiopatias."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Exibição em alta resolução de grafico_desfecho_faixa_etaria.png.</a:t>
            </a:r>
          </a:p>
          <a:p>
            <a:r>
              <a:rPr lang="en-US"/>
              <a:t>• Gradiente de risco: Jovens 1,28% -&gt; Adultos 4,07% -&gt; Idosos 12,11% (9,46x maior).</a:t>
            </a:r>
          </a:p>
          <a:p>
            <a:r>
              <a:rPr lang="en-US"/>
              <a:t>• Justificativa metodológica da geração sobre o treino pré-balanceamento.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ROTEIRO DE FALA — ENCERRAMENTO CONJUNTO (LÁZARO &amp; KEVIN):</a:t>
            </a:r>
          </a:p>
          <a:p>
            <a:r>
              <a:rPr lang="en-US"/>
              <a:t/>
            </a:r>
          </a:p>
          <a:p>
            <a:r>
              <a:rPr lang="en-US"/>
              <a:t>[LÁZARO]: "Para concluir: entregamos uma base de modelagem preditiva que transcende os requisitos acadêmicos da disciplina e atinge padrões de excelência em ciência de dados biomédica. Eliminamos o vazamento de alvo que inflaria falsamente a acurácia, respeitamos os marcos legais brasileiros de proteção à criança e ao idoso, selecionamos preditores viáveis na rotina do posto de saúde e preservamos a integridade ecológica do teste.</a:t>
            </a:r>
          </a:p>
          <a:p>
            <a:r>
              <a:rPr lang="en-US"/>
              <a:t>A base de treino balanceada está pronta para o treinamento de modelos robustos, como Gradient Boosting, Random Forest e Redes Neurais."</a:t>
            </a:r>
          </a:p>
          <a:p>
            <a:r>
              <a:rPr lang="en-US"/>
              <a:t/>
            </a:r>
          </a:p>
          <a:p>
            <a:r>
              <a:rPr lang="en-US"/>
              <a:t>[KEVIN]: "Temos a plena convicção de que este trabalho estabelece uma fundação metodológica sólida para que algoritmos de Inteligência Artificial possam atuar como ferramenta real de apoio à decisão clínica no SUS, auxiliando a salvar vidas no enfrentamento da tuberculose pulmonar."</a:t>
            </a:r>
          </a:p>
          <a:p>
            <a:r>
              <a:rPr lang="en-US"/>
              <a:t/>
            </a:r>
          </a:p>
          <a:p>
            <a:r>
              <a:rPr lang="en-US"/>
              <a:t>[AMBOS]: "Muito obrigado a todos pela atenção!"</a:t>
            </a:r>
          </a:p>
          <a:p>
            <a:r>
              <a:rPr lang="en-US"/>
              <a:t/>
            </a:r>
          </a:p>
          <a:p>
            <a:r>
              <a:rPr lang="en-US"/>
              <a:t>PONTOS-CHAVE:</a:t>
            </a:r>
          </a:p>
          <a:p>
            <a:r>
              <a:rPr lang="en-US"/>
              <a:t>• Síntese dos 4 pilares: Blindagem metodológica, Relevância legal, 22 atributos e Prontidão para IA.</a:t>
            </a:r>
          </a:p>
          <a:p>
            <a:r>
              <a:rPr lang="en-US"/>
              <a:t>• Fala de encerramento em dueto (Lázaro e Kevin).</a:t>
            </a:r>
          </a:p>
          <a:p>
            <a:r>
              <a:rPr lang="en-US"/>
              <a:t>• Agradecimento final à banca e ao professor.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F3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314921" y="960872"/>
            <a:ext cx="3568951" cy="3568951"/>
            <a:chOff x="0" y="0"/>
            <a:chExt cx="4758601" cy="475860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758563" cy="4758563"/>
            </a:xfrm>
            <a:custGeom>
              <a:avLst/>
              <a:gdLst/>
              <a:ahLst/>
              <a:cxnLst/>
              <a:rect r="r" b="b" t="t" l="l"/>
              <a:pathLst>
                <a:path h="4758563" w="4758563">
                  <a:moveTo>
                    <a:pt x="0" y="2379345"/>
                  </a:moveTo>
                  <a:cubicBezTo>
                    <a:pt x="0" y="1065276"/>
                    <a:pt x="1065276" y="0"/>
                    <a:pt x="2379345" y="0"/>
                  </a:cubicBezTo>
                  <a:cubicBezTo>
                    <a:pt x="3693414" y="0"/>
                    <a:pt x="4758563" y="1065276"/>
                    <a:pt x="4758563" y="2379345"/>
                  </a:cubicBezTo>
                  <a:cubicBezTo>
                    <a:pt x="4758563" y="3693414"/>
                    <a:pt x="3693287" y="4758563"/>
                    <a:pt x="2379345" y="4758563"/>
                  </a:cubicBezTo>
                  <a:cubicBezTo>
                    <a:pt x="1065403" y="4758563"/>
                    <a:pt x="0" y="3693287"/>
                    <a:pt x="0" y="2379345"/>
                  </a:cubicBezTo>
                  <a:close/>
                </a:path>
              </a:pathLst>
            </a:custGeom>
            <a:solidFill>
              <a:srgbClr val="1F649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4687598" y="3019882"/>
            <a:ext cx="2333539" cy="2333539"/>
            <a:chOff x="0" y="0"/>
            <a:chExt cx="3111386" cy="311138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1115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3111500">
                  <a:moveTo>
                    <a:pt x="0" y="1555750"/>
                  </a:moveTo>
                  <a:cubicBezTo>
                    <a:pt x="0" y="696468"/>
                    <a:pt x="696468" y="0"/>
                    <a:pt x="1555750" y="0"/>
                  </a:cubicBezTo>
                  <a:cubicBezTo>
                    <a:pt x="2415032" y="0"/>
                    <a:pt x="3111500" y="696468"/>
                    <a:pt x="3111500" y="1555750"/>
                  </a:cubicBezTo>
                  <a:cubicBezTo>
                    <a:pt x="3111500" y="2415032"/>
                    <a:pt x="2415032" y="3111500"/>
                    <a:pt x="1555750" y="3111500"/>
                  </a:cubicBezTo>
                  <a:cubicBezTo>
                    <a:pt x="696468" y="3111500"/>
                    <a:pt x="0" y="2414905"/>
                    <a:pt x="0" y="1555750"/>
                  </a:cubicBezTo>
                  <a:close/>
                </a:path>
              </a:pathLst>
            </a:custGeom>
            <a:solidFill>
              <a:srgbClr val="009791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2216784" y="4804353"/>
            <a:ext cx="1372676" cy="1372676"/>
            <a:chOff x="0" y="0"/>
            <a:chExt cx="1830235" cy="183023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30324" cy="1830324"/>
            </a:xfrm>
            <a:custGeom>
              <a:avLst/>
              <a:gdLst/>
              <a:ahLst/>
              <a:cxnLst/>
              <a:rect r="r" b="b" t="t" l="l"/>
              <a:pathLst>
                <a:path h="1830324" w="1830324">
                  <a:moveTo>
                    <a:pt x="0" y="915162"/>
                  </a:moveTo>
                  <a:cubicBezTo>
                    <a:pt x="0" y="409702"/>
                    <a:pt x="409702" y="0"/>
                    <a:pt x="915162" y="0"/>
                  </a:cubicBezTo>
                  <a:cubicBezTo>
                    <a:pt x="1420622" y="0"/>
                    <a:pt x="1830324" y="409702"/>
                    <a:pt x="1830324" y="915162"/>
                  </a:cubicBezTo>
                  <a:cubicBezTo>
                    <a:pt x="1830324" y="1420622"/>
                    <a:pt x="1420622" y="1830324"/>
                    <a:pt x="915162" y="1830324"/>
                  </a:cubicBezTo>
                  <a:cubicBezTo>
                    <a:pt x="409702" y="1830324"/>
                    <a:pt x="0" y="1420495"/>
                    <a:pt x="0" y="915162"/>
                  </a:cubicBezTo>
                  <a:close/>
                </a:path>
              </a:pathLst>
            </a:custGeom>
            <a:solidFill>
              <a:srgbClr val="67CDC8"/>
            </a:solid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171308" y="2163842"/>
            <a:ext cx="11439011" cy="18398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5"/>
              </a:lnSpc>
            </a:pPr>
            <a:r>
              <a:rPr lang="en-US" sz="6004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TAIA-SINAN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26220" y="4173264"/>
            <a:ext cx="10340873" cy="119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3"/>
              </a:lnSpc>
            </a:pPr>
            <a:r>
              <a:rPr lang="en-US" sz="3952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Preparação de dados da base pulmonar, desfechos cura e óbito por tuberculose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39945" y="7654528"/>
            <a:ext cx="10203599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D2DEEB"/>
                </a:solidFill>
                <a:latin typeface="Aptos"/>
                <a:ea typeface="Aptos"/>
                <a:cs typeface="Aptos"/>
                <a:sym typeface="Aptos"/>
              </a:rPr>
              <a:t>Kevin Luís Alves de Lima • Lázaro Felipe da Rocha Santos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419651" y="9517161"/>
            <a:ext cx="1555766" cy="2517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647206" y="1509941"/>
            <a:ext cx="164725" cy="6588824"/>
            <a:chOff x="0" y="0"/>
            <a:chExt cx="219634" cy="878509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583" cy="8785098"/>
            </a:xfrm>
            <a:custGeom>
              <a:avLst/>
              <a:gdLst/>
              <a:ahLst/>
              <a:cxnLst/>
              <a:rect r="r" b="b" t="t" l="l"/>
              <a:pathLst>
                <a:path h="8785098" w="219583">
                  <a:moveTo>
                    <a:pt x="0" y="0"/>
                  </a:moveTo>
                  <a:lnTo>
                    <a:pt x="219583" y="0"/>
                  </a:lnTo>
                  <a:lnTo>
                    <a:pt x="219583" y="8785098"/>
                  </a:lnTo>
                  <a:lnTo>
                    <a:pt x="0" y="8785098"/>
                  </a:lnTo>
                  <a:close/>
                </a:path>
              </a:pathLst>
            </a:custGeom>
            <a:solidFill>
              <a:srgbClr val="0EA5E9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2049475" y="1500407"/>
            <a:ext cx="14569392" cy="6607893"/>
            <a:chOff x="0" y="0"/>
            <a:chExt cx="19425856" cy="881052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9425920" cy="8810625"/>
            </a:xfrm>
            <a:custGeom>
              <a:avLst/>
              <a:gdLst/>
              <a:ahLst/>
              <a:cxnLst/>
              <a:rect r="r" b="b" t="t" l="l"/>
              <a:pathLst>
                <a:path h="8810625" w="19425920">
                  <a:moveTo>
                    <a:pt x="0" y="1468501"/>
                  </a:moveTo>
                  <a:cubicBezTo>
                    <a:pt x="0" y="657479"/>
                    <a:pt x="657479" y="0"/>
                    <a:pt x="1468501" y="0"/>
                  </a:cubicBezTo>
                  <a:lnTo>
                    <a:pt x="17957419" y="0"/>
                  </a:lnTo>
                  <a:cubicBezTo>
                    <a:pt x="18768440" y="0"/>
                    <a:pt x="19425920" y="657479"/>
                    <a:pt x="19425920" y="1468501"/>
                  </a:cubicBezTo>
                  <a:lnTo>
                    <a:pt x="19425920" y="7342124"/>
                  </a:lnTo>
                  <a:cubicBezTo>
                    <a:pt x="19425920" y="8153146"/>
                    <a:pt x="18768440" y="8810625"/>
                    <a:pt x="17957419" y="8810625"/>
                  </a:cubicBezTo>
                  <a:lnTo>
                    <a:pt x="1468501" y="8810625"/>
                  </a:lnTo>
                  <a:cubicBezTo>
                    <a:pt x="657479" y="8810498"/>
                    <a:pt x="0" y="8153019"/>
                    <a:pt x="0" y="7342124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2562254" y="1898828"/>
            <a:ext cx="13543845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PROJETO AVALIATIVO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562254" y="2447896"/>
            <a:ext cx="13543845" cy="15557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Pipeline de Pré-Processamento e Preparação de Dados para Predição de Desfecho em Tuberculose Pulmonar no SINAN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562254" y="4184742"/>
            <a:ext cx="13543845" cy="361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 Preditiva Livre de Vazamento de Dados (Data Leakage) na Coorte Nacional do SUS (2014–2024)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2463660" y="5277641"/>
            <a:ext cx="6603130" cy="1043807"/>
            <a:chOff x="0" y="0"/>
            <a:chExt cx="8804173" cy="139174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804148" cy="1391666"/>
            </a:xfrm>
            <a:custGeom>
              <a:avLst/>
              <a:gdLst/>
              <a:ahLst/>
              <a:cxnLst/>
              <a:rect r="r" b="b" t="t" l="l"/>
              <a:pathLst>
                <a:path h="1391666" w="8804148">
                  <a:moveTo>
                    <a:pt x="0" y="231902"/>
                  </a:moveTo>
                  <a:cubicBezTo>
                    <a:pt x="0" y="103886"/>
                    <a:pt x="103886" y="0"/>
                    <a:pt x="231902" y="0"/>
                  </a:cubicBezTo>
                  <a:lnTo>
                    <a:pt x="8572246" y="0"/>
                  </a:lnTo>
                  <a:cubicBezTo>
                    <a:pt x="8700389" y="0"/>
                    <a:pt x="8804148" y="103886"/>
                    <a:pt x="8804148" y="231902"/>
                  </a:cubicBezTo>
                  <a:lnTo>
                    <a:pt x="8804148" y="1159764"/>
                  </a:lnTo>
                  <a:cubicBezTo>
                    <a:pt x="8804148" y="1287907"/>
                    <a:pt x="8700262" y="1391666"/>
                    <a:pt x="8572246" y="1391666"/>
                  </a:cubicBezTo>
                  <a:lnTo>
                    <a:pt x="231902" y="1391666"/>
                  </a:lnTo>
                  <a:cubicBezTo>
                    <a:pt x="103886" y="1391793"/>
                    <a:pt x="0" y="1287907"/>
                    <a:pt x="0" y="1159764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0EA5E9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8804173" cy="14298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F8FAF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0EA5E9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Apresentador da Parte I (Slides 1 a 9) • Diagnóstico &amp; Regras Fixas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464288" y="5277641"/>
            <a:ext cx="6603130" cy="1043803"/>
            <a:chOff x="0" y="0"/>
            <a:chExt cx="8804173" cy="139173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804148" cy="1391661"/>
            </a:xfrm>
            <a:custGeom>
              <a:avLst/>
              <a:gdLst/>
              <a:ahLst/>
              <a:cxnLst/>
              <a:rect r="r" b="b" t="t" l="l"/>
              <a:pathLst>
                <a:path h="1391661" w="8804148">
                  <a:moveTo>
                    <a:pt x="0" y="231901"/>
                  </a:moveTo>
                  <a:cubicBezTo>
                    <a:pt x="0" y="103886"/>
                    <a:pt x="103886" y="0"/>
                    <a:pt x="231902" y="0"/>
                  </a:cubicBezTo>
                  <a:lnTo>
                    <a:pt x="8572246" y="0"/>
                  </a:lnTo>
                  <a:cubicBezTo>
                    <a:pt x="8700389" y="0"/>
                    <a:pt x="8804148" y="103886"/>
                    <a:pt x="8804148" y="231901"/>
                  </a:cubicBezTo>
                  <a:lnTo>
                    <a:pt x="8804148" y="1159760"/>
                  </a:lnTo>
                  <a:cubicBezTo>
                    <a:pt x="8804148" y="1287902"/>
                    <a:pt x="8700262" y="1391661"/>
                    <a:pt x="8572246" y="1391661"/>
                  </a:cubicBezTo>
                  <a:lnTo>
                    <a:pt x="231902" y="1391661"/>
                  </a:lnTo>
                  <a:cubicBezTo>
                    <a:pt x="103886" y="1391788"/>
                    <a:pt x="0" y="1287902"/>
                    <a:pt x="0" y="1159760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8804173" cy="14298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61"/>
                </a:lnSpc>
              </a:pPr>
              <a:r>
                <a:rPr lang="en-US" sz="1801" b="true">
                  <a:solidFill>
                    <a:srgbClr val="F8FAFC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14B8A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Apresentador da Parte II (Slides 10 a 17) • Modelagem, Seleção &amp; RUS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463660" y="6650307"/>
            <a:ext cx="3240081" cy="590817"/>
            <a:chOff x="0" y="0"/>
            <a:chExt cx="4320108" cy="78775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320159" cy="787781"/>
            </a:xfrm>
            <a:custGeom>
              <a:avLst/>
              <a:gdLst/>
              <a:ahLst/>
              <a:cxnLst/>
              <a:rect r="r" b="b" t="t" l="l"/>
              <a:pathLst>
                <a:path h="787781" w="4320159">
                  <a:moveTo>
                    <a:pt x="0" y="131318"/>
                  </a:moveTo>
                  <a:cubicBezTo>
                    <a:pt x="0" y="58801"/>
                    <a:pt x="58801" y="0"/>
                    <a:pt x="131318" y="0"/>
                  </a:cubicBezTo>
                  <a:lnTo>
                    <a:pt x="4188841" y="0"/>
                  </a:lnTo>
                  <a:cubicBezTo>
                    <a:pt x="4261358" y="0"/>
                    <a:pt x="4320159" y="58801"/>
                    <a:pt x="4320159" y="131318"/>
                  </a:cubicBezTo>
                  <a:lnTo>
                    <a:pt x="4320159" y="656463"/>
                  </a:lnTo>
                  <a:cubicBezTo>
                    <a:pt x="4320159" y="728980"/>
                    <a:pt x="4261358" y="787781"/>
                    <a:pt x="4188841" y="787781"/>
                  </a:cubicBezTo>
                  <a:lnTo>
                    <a:pt x="131318" y="787781"/>
                  </a:lnTo>
                  <a:cubicBezTo>
                    <a:pt x="58801" y="787781"/>
                    <a:pt x="0" y="728980"/>
                    <a:pt x="0" y="656463"/>
                  </a:cubicBezTo>
                  <a:close/>
                </a:path>
              </a:pathLst>
            </a:custGeom>
            <a:solidFill>
              <a:srgbClr val="1E293B"/>
            </a:solidFill>
            <a:ln w="14299" cap="sq">
              <a:solidFill>
                <a:srgbClr val="0EA5E9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4320108" cy="8258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0EA5E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Base SINAN / DataSUS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895346" y="6650307"/>
            <a:ext cx="3240081" cy="590817"/>
            <a:chOff x="0" y="0"/>
            <a:chExt cx="4320108" cy="7877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320159" cy="787781"/>
            </a:xfrm>
            <a:custGeom>
              <a:avLst/>
              <a:gdLst/>
              <a:ahLst/>
              <a:cxnLst/>
              <a:rect r="r" b="b" t="t" l="l"/>
              <a:pathLst>
                <a:path h="787781" w="4320159">
                  <a:moveTo>
                    <a:pt x="0" y="131318"/>
                  </a:moveTo>
                  <a:cubicBezTo>
                    <a:pt x="0" y="58801"/>
                    <a:pt x="58801" y="0"/>
                    <a:pt x="131318" y="0"/>
                  </a:cubicBezTo>
                  <a:lnTo>
                    <a:pt x="4188841" y="0"/>
                  </a:lnTo>
                  <a:cubicBezTo>
                    <a:pt x="4261358" y="0"/>
                    <a:pt x="4320159" y="58801"/>
                    <a:pt x="4320159" y="131318"/>
                  </a:cubicBezTo>
                  <a:lnTo>
                    <a:pt x="4320159" y="656463"/>
                  </a:lnTo>
                  <a:cubicBezTo>
                    <a:pt x="4320159" y="728980"/>
                    <a:pt x="4261358" y="787781"/>
                    <a:pt x="4188841" y="787781"/>
                  </a:cubicBezTo>
                  <a:lnTo>
                    <a:pt x="131318" y="787781"/>
                  </a:lnTo>
                  <a:cubicBezTo>
                    <a:pt x="58801" y="787781"/>
                    <a:pt x="0" y="728980"/>
                    <a:pt x="0" y="656463"/>
                  </a:cubicBezTo>
                  <a:close/>
                </a:path>
              </a:pathLst>
            </a:custGeom>
            <a:solidFill>
              <a:srgbClr val="1E293B"/>
            </a:solidFill>
            <a:ln w="14299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320108" cy="8258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884.221 Notificações Brutas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327023" y="6650307"/>
            <a:ext cx="3240081" cy="590817"/>
            <a:chOff x="0" y="0"/>
            <a:chExt cx="4320108" cy="7877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320159" cy="787781"/>
            </a:xfrm>
            <a:custGeom>
              <a:avLst/>
              <a:gdLst/>
              <a:ahLst/>
              <a:cxnLst/>
              <a:rect r="r" b="b" t="t" l="l"/>
              <a:pathLst>
                <a:path h="787781" w="4320159">
                  <a:moveTo>
                    <a:pt x="0" y="131318"/>
                  </a:moveTo>
                  <a:cubicBezTo>
                    <a:pt x="0" y="58801"/>
                    <a:pt x="58801" y="0"/>
                    <a:pt x="131318" y="0"/>
                  </a:cubicBezTo>
                  <a:lnTo>
                    <a:pt x="4188841" y="0"/>
                  </a:lnTo>
                  <a:cubicBezTo>
                    <a:pt x="4261358" y="0"/>
                    <a:pt x="4320159" y="58801"/>
                    <a:pt x="4320159" y="131318"/>
                  </a:cubicBezTo>
                  <a:lnTo>
                    <a:pt x="4320159" y="656463"/>
                  </a:lnTo>
                  <a:cubicBezTo>
                    <a:pt x="4320159" y="728980"/>
                    <a:pt x="4261358" y="787781"/>
                    <a:pt x="4188841" y="787781"/>
                  </a:cubicBezTo>
                  <a:lnTo>
                    <a:pt x="131318" y="787781"/>
                  </a:lnTo>
                  <a:cubicBezTo>
                    <a:pt x="58801" y="787781"/>
                    <a:pt x="0" y="728980"/>
                    <a:pt x="0" y="656463"/>
                  </a:cubicBezTo>
                  <a:close/>
                </a:path>
              </a:pathLst>
            </a:custGeom>
            <a:solidFill>
              <a:srgbClr val="1E293B"/>
            </a:solidFill>
            <a:ln w="14299" cap="sq">
              <a:solidFill>
                <a:srgbClr val="10B981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4320108" cy="8258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10B98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Série Histórica 2014–2024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758699" y="6650307"/>
            <a:ext cx="3240081" cy="590821"/>
            <a:chOff x="0" y="0"/>
            <a:chExt cx="4320108" cy="787761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4320159" cy="787787"/>
            </a:xfrm>
            <a:custGeom>
              <a:avLst/>
              <a:gdLst/>
              <a:ahLst/>
              <a:cxnLst/>
              <a:rect r="r" b="b" t="t" l="l"/>
              <a:pathLst>
                <a:path h="787787" w="4320159">
                  <a:moveTo>
                    <a:pt x="0" y="131319"/>
                  </a:moveTo>
                  <a:cubicBezTo>
                    <a:pt x="0" y="58801"/>
                    <a:pt x="58801" y="0"/>
                    <a:pt x="131318" y="0"/>
                  </a:cubicBezTo>
                  <a:lnTo>
                    <a:pt x="4188841" y="0"/>
                  </a:lnTo>
                  <a:cubicBezTo>
                    <a:pt x="4261358" y="0"/>
                    <a:pt x="4320159" y="58801"/>
                    <a:pt x="4320159" y="131319"/>
                  </a:cubicBezTo>
                  <a:lnTo>
                    <a:pt x="4320159" y="656468"/>
                  </a:lnTo>
                  <a:cubicBezTo>
                    <a:pt x="4320159" y="728985"/>
                    <a:pt x="4261358" y="787787"/>
                    <a:pt x="4188841" y="787787"/>
                  </a:cubicBezTo>
                  <a:lnTo>
                    <a:pt x="131318" y="787787"/>
                  </a:lnTo>
                  <a:cubicBezTo>
                    <a:pt x="58801" y="787787"/>
                    <a:pt x="0" y="728985"/>
                    <a:pt x="0" y="656468"/>
                  </a:cubicBezTo>
                  <a:close/>
                </a:path>
              </a:pathLst>
            </a:custGeom>
            <a:solidFill>
              <a:srgbClr val="1E293B"/>
            </a:solidFill>
            <a:ln w="14299" cap="sq">
              <a:solidFill>
                <a:srgbClr val="F59E0B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4320108" cy="8258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11"/>
                </a:lnSpc>
              </a:pPr>
              <a:r>
                <a:rPr lang="en-US" sz="1426" b="true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Eliminar Atributos de Vazamento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2150450" y="8449551"/>
            <a:ext cx="14367443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Universidade de Pernambuco / Sistemas de Informação • Tópicos Avançados em Inteligência Artificial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CONTEXTUALIZAÇÃO CLÍNICA • EPIDEMIOLOGIA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O Desafio da Tuberculose Pulmonar no SUS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Da emergência sanitária à modelagem preditiva no ponto de atendimento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2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5166589" cy="6745157"/>
            <a:chOff x="0" y="0"/>
            <a:chExt cx="6888785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4415571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EF4444"/>
                </a:solidFill>
                <a:latin typeface="Segoe UI Bold"/>
                <a:ea typeface="Segoe UI Bold"/>
                <a:cs typeface="Segoe UI Bold"/>
                <a:sym typeface="Segoe UI Bold"/>
              </a:rPr>
              <a:t>MAGNITUDE DA DOENÇA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64116" y="3507934"/>
            <a:ext cx="4415571" cy="297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Impacto Global e Nacional: Entre as doenças infecciosas mais letais do mundo causadas por agente único.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Desigualdade Social: Acomete desproporcionalmente populações vulneráveis (extrema pobreza, rua, presídios).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Mortalidade Persistente: Letalidade real de 5,10% na coorte tratada, resultando em milhares de mortes evitáveis ao ano no Brasil.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79299" y="2529916"/>
            <a:ext cx="5166589" cy="6745157"/>
            <a:chOff x="0" y="0"/>
            <a:chExt cx="6888785" cy="899354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6954803" y="2859700"/>
            <a:ext cx="4415571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PROPÓSITO CLÍNICO DA IA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54803" y="3507934"/>
            <a:ext cx="4415571" cy="297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Predição no Ponto de Cuidado: Identificar risco de óbito no momento da notificação inicial (UBS / Posto de Saúde).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Ação Preventiva Imediata: Alertar equipes de Saúde da Família para priorizar visitas e suporte clínico intensivo.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Adesão Terapêutica: Direcionamento do Tratamento Diretamente Observado (TDO) para casos de alto risco prognóstico.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069985" y="2529916"/>
            <a:ext cx="5166589" cy="6745157"/>
            <a:chOff x="0" y="0"/>
            <a:chExt cx="6888785" cy="899354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445489" y="2859700"/>
            <a:ext cx="4415571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DESAFIO DOS DADOS (SINAN)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445489" y="3507934"/>
            <a:ext cx="4415571" cy="297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Heterogeneidade Municipal: Mais de 5.200 municípios alimentando dados descentralizados com padrões variáveis.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Ruídos &amp; Dados Faltantes: Campos em branco, códigos sentinela e omissões informativas que exigem tratamento.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Risco Severo de Vazamento: Informações retrospectivas pós-admissão que podem invalidar modelos se não forem expurgadas.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METODOLOGIA • VISÃO SISTÊMICA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Pipeline de Pré-Processamento em 6 Etapas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Fluxo analítico unificado cobrindo desde a exploração inicial até a modelagem supervisionada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3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5166589" cy="3313481"/>
            <a:chOff x="0" y="0"/>
            <a:chExt cx="6888785" cy="441797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395479" y="2749887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1. Diagnóstico de Faltantes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1 • Faltantes &amp; Diagnóstico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95479" y="3439297"/>
            <a:ext cx="455283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Leitura de 884k registros com keep_default_na=False.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Contagem absoluta e % de nulos/vazios.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Identificação de 4 colunas 100% vazias e 11 com &gt;97% de ausência.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79299" y="2529916"/>
            <a:ext cx="5166589" cy="3313481"/>
            <a:chOff x="0" y="0"/>
            <a:chExt cx="6888785" cy="441797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6886165" y="2749887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4B8A6"/>
                </a:solidFill>
                <a:latin typeface="Segoe UI Bold"/>
                <a:ea typeface="Segoe UI Bold"/>
                <a:cs typeface="Segoe UI Bold"/>
                <a:sym typeface="Segoe UI Bold"/>
              </a:rPr>
              <a:t>2. Dicionário &amp; Limpeza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2 • Triagem Inicial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886165" y="3439297"/>
            <a:ext cx="4552836" cy="1104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Confronto com Dicionário Oficial do SINAN.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Eliminação de metadados hospitalares e IDs.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Fixação do limiar de corte de 60% de incompletude.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069985" y="2529916"/>
            <a:ext cx="5166589" cy="3313481"/>
            <a:chOff x="0" y="0"/>
            <a:chExt cx="6888785" cy="441797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376861" y="2749887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3. Resgate &amp; 4 Regras Fixas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3 • Regras de Negócio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376861" y="3439297"/>
            <a:ext cx="4552836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Resgate das 108 colunas; coorte de 603k registros.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Desfecho binário TARGET e decodificação da idade.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Redução sistemática para 26 preditores candidatos.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088603" y="5961593"/>
            <a:ext cx="5166589" cy="3313481"/>
            <a:chOff x="0" y="0"/>
            <a:chExt cx="6888785" cy="441797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395479" y="6181563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4. Pós-Óbito &amp; Partição 80/20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4 • Isolamento &amp; Leis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95479" y="6870983"/>
            <a:ext cx="4552836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Expurgo de 4.095 notificações pós-óbito (leakage).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Discretização etária legal (Leis 8.069/90 e 10.741/03).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Divisão estratificada 80/20 com hold-out estrito.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579299" y="5961593"/>
            <a:ext cx="5166589" cy="3313481"/>
            <a:chOff x="0" y="0"/>
            <a:chExt cx="6888785" cy="441797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6886165" y="6181563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5. Feature Selection no Treino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4 • Ranqueamento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886165" y="6870983"/>
            <a:ext cx="455283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V de Cramér e correlação ponto-bisserial no treino.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P-valor assintótico inadequado para ranqueamento.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Seleção do Top 22 preditores (V &gt;= 0,0325).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069985" y="5961593"/>
            <a:ext cx="5166589" cy="3313481"/>
            <a:chOff x="0" y="0"/>
            <a:chExt cx="6888785" cy="4417974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88734" cy="4417949"/>
            </a:xfrm>
            <a:custGeom>
              <a:avLst/>
              <a:gdLst/>
              <a:ahLst/>
              <a:cxnLst/>
              <a:rect r="r" b="b" t="t" l="l"/>
              <a:pathLst>
                <a:path h="4417949" w="6888734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6152388" y="0"/>
                  </a:lnTo>
                  <a:cubicBezTo>
                    <a:pt x="6559042" y="0"/>
                    <a:pt x="6888734" y="329692"/>
                    <a:pt x="6888734" y="736346"/>
                  </a:cubicBezTo>
                  <a:lnTo>
                    <a:pt x="6888734" y="3681603"/>
                  </a:lnTo>
                  <a:cubicBezTo>
                    <a:pt x="6888734" y="4088257"/>
                    <a:pt x="6559042" y="4417949"/>
                    <a:pt x="6152388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376861" y="6181563"/>
            <a:ext cx="4552836" cy="594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6. Undersampling 1:1 &amp; Gráfico</a:t>
            </a:r>
          </a:p>
          <a:p>
            <a:pPr algn="l">
              <a:lnSpc>
                <a:spcPts val="1711"/>
              </a:lnSpc>
            </a:pPr>
            <a:r>
              <a:rPr lang="en-US" sz="1426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Atividade 4 • Balanceamento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376861" y="6870983"/>
            <a:ext cx="4552836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Random Undersampling 1:1 apenas no treino (48k).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Preservação do teste na proporção real (5,10%).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Gráfico de letalidade real pré-balanceamento.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1 • ATIVIDADE 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Diagnóstico de Completude e Tratamento de Faltantes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Identificação precisa de omissões cadastrais em sistemas de notificação compulsória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4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536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O QUE FOI FEITO &amp; POR QUE FOI FEITO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Leitura Integral dos 884.221 Registros: Carregamento das 108 variáveis da coorte pulmonar utilizando keep_default_na=False no Pandas.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Captura de Strings Vazias (""): No SINAN, campos em branco ingressam como texto vazio. A leitura padrão trataria como preenchido, mascarando ausências.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Contagem Absoluta e Percentual: Catalogação exata de nulos para todas as 108 colunas (cálculo reproduzível na Célula 9 do notebook e em taia.py).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Fundamentação Teórica (Little &amp; Rubin, 2019): A ausência cadastral no SUS constitui Ausência Informativa (MAR/MNAR), correlacionada à vulnerabilidade.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Rejeição da Exclusão de Linhas (Listwise Deletion): Evita atrito de casos graves e viés amostral severo.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Rejeição da Imputação por Média/Mediana: Evita atenuação espúria da variância e subestimação do erro-padrão.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TOP VARIÁVEIS COM MAIOR INCOMPLETUDE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363047"/>
          <a:ext cx="7225595" cy="5452560"/>
        </p:xfrm>
        <a:graphic>
          <a:graphicData uri="http://schemas.openxmlformats.org/drawingml/2006/table">
            <a:tbl>
              <a:tblPr/>
              <a:tblGrid>
                <a:gridCol w="1635984"/>
                <a:gridCol w="3271968"/>
                <a:gridCol w="1226988"/>
                <a:gridCol w="1090656"/>
              </a:tblGrid>
              <a:tr h="4956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Atributo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Significado Clínico / Operacional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Qtd Faltante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% Faltante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CS_FLXRET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Fluxo de retorno da notificação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884.221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FLXRECEBI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Fluxo de recebimento municipal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884.221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DT_TRANSRM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Data de transferência regional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884.221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IDADEminutos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Idade expressa em minutos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884.221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IDADEhoras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Idade expressa em horas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883.658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99,94%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EXTRAPUL_O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Outra localização extrapulmonar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883.569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99,93%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IDADEdias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Idade expressa em dias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882.903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99,85%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IDADEmeses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Idade expressa em meses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882.269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99,78%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DT_TRANSDM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Data de transferência distrital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874.738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98,93%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9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DT_TRANSRS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Data de transição regional saúde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872.564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98,68%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2 • ATIVIDADE 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Dicionário de Dados e Limpeza Exploratória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Depuração de metadados operacionais e isolamento inicial do desfecho clínico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5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429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DIRETRIZES DO DICIONÁRIO &amp; LIMPEZA INICIAL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Confronto com o Dicionário do SINAN: Avaliação do significado clínico vs puramente administrativo de cada variável.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Exclusão de Metadados de Sistema: Remoção de identificadores operacionais (chaves de digitação, carimbos de fluxo, IDs).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Fixação do Limiar de 60%: Descarte de atributos cuja taxa de ausência estrutural superava 60%, inviabilizando uso clínico.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Isolamento Preventivo do Alvo: Separação imediata de SITUA_ENCE para evitar contaminação do espaço de atributos preditores.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Reconhecimento de Limitações da Exploração: Na triagem inicial, algumas variáveis sociais (ex.: POP_RUA) foram descartadas e variáveis temporais foram retidas. Esse aprendizado motivou o resgate completo na Atividade 3.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4B8A6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BALANÇO DA TRIAGEM EXPLORATÓRIA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500315"/>
          <a:ext cx="7225595" cy="3088513"/>
        </p:xfrm>
        <a:graphic>
          <a:graphicData uri="http://schemas.openxmlformats.org/drawingml/2006/table">
            <a:tbl>
              <a:tblPr/>
              <a:tblGrid>
                <a:gridCol w="2453976"/>
                <a:gridCol w="1226988"/>
                <a:gridCol w="1090656"/>
                <a:gridCol w="2453976"/>
              </a:tblGrid>
              <a:tr h="51475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Classificação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Qtd Colunas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% Base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Descrição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Colunas Iniciais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Total de atributos originais do SINAN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Colunas Descartadas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45,4%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IDs, metadados, datas operacionais, &gt;60% nulos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Preditores Permanecentes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53,7%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Atributos clínicos, sociodemográficos e testes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Variável Dependente (Alvo)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0,9%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SITUA_ENCE (isolada do pool preditivo)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Total Mantido no DF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54,6%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58 preditores candidatos + 1 alvo isolado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grpSp>
        <p:nvGrpSpPr>
          <p:cNvPr name="Group 19" id="19"/>
          <p:cNvGrpSpPr/>
          <p:nvPr/>
        </p:nvGrpSpPr>
        <p:grpSpPr>
          <a:xfrm rot="0">
            <a:off x="9601562" y="6924846"/>
            <a:ext cx="7289463" cy="2073307"/>
            <a:chOff x="0" y="0"/>
            <a:chExt cx="9719285" cy="276440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719311" cy="2764409"/>
            </a:xfrm>
            <a:custGeom>
              <a:avLst/>
              <a:gdLst/>
              <a:ahLst/>
              <a:cxnLst/>
              <a:rect r="r" b="b" t="t" l="l"/>
              <a:pathLst>
                <a:path h="2764409" w="9719311">
                  <a:moveTo>
                    <a:pt x="0" y="460756"/>
                  </a:moveTo>
                  <a:cubicBezTo>
                    <a:pt x="0" y="206248"/>
                    <a:pt x="206248" y="0"/>
                    <a:pt x="460756" y="0"/>
                  </a:cubicBezTo>
                  <a:lnTo>
                    <a:pt x="9258554" y="0"/>
                  </a:lnTo>
                  <a:cubicBezTo>
                    <a:pt x="9513062" y="0"/>
                    <a:pt x="9719311" y="206248"/>
                    <a:pt x="9719311" y="460756"/>
                  </a:cubicBezTo>
                  <a:lnTo>
                    <a:pt x="9719311" y="2303653"/>
                  </a:lnTo>
                  <a:cubicBezTo>
                    <a:pt x="9719311" y="2558161"/>
                    <a:pt x="9513062" y="2764409"/>
                    <a:pt x="9258554" y="2764409"/>
                  </a:cubicBezTo>
                  <a:lnTo>
                    <a:pt x="460756" y="2764409"/>
                  </a:lnTo>
                  <a:cubicBezTo>
                    <a:pt x="206248" y="2764409"/>
                    <a:pt x="0" y="2558161"/>
                    <a:pt x="0" y="2303653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F59E0B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9719285" cy="278345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1"/>
                </a:lnSpc>
              </a:pPr>
              <a:r>
                <a:rPr lang="en-US" sz="1576" b="true">
                  <a:solidFill>
                    <a:srgbClr val="F59E0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📌 EVOLUÇÃO METODOLÓGICA PARA A ATIVIDADE 3</a:t>
              </a:r>
            </a:p>
            <a:p>
              <a:pPr algn="l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triagem exploratória da Atividade 2 funcionou como diagnóstico preliminar. Para a modelagem oficial (Atividades 3 e 4), resgatou-se a base de 108 colunas do backup para recuperar variáveis sociais vitais (POP_RUA) e expurgar com rigor absoluto todos os vazamentos temporais.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3 • ATIVIDADE 3 (PARTE A)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Resgate Integral e Definição da Coorte de Interesse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Restrição da coorte aos desfechos elegíveis e criação da variável alvo binária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6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168770" cy="429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RESGATE &amp; CRITÉRIOS CLÍNICOS DE ELEGIBILIDADE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Resgate Total das 108 Colunas: Restauração da integridade da coorte a partir do backup bruto do SINAN.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Definição da Coorte de Interesse: Seleção exclusiva dos casos com encerramento por Cura ou Óbito por Tuberculose.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Exclusão de Desfechos Concorrentes / Não Informativos: Pacientes que abandonaram o tratamento (133k), foram transferidos (54k) ou faleceram por outras causas (33k) foram removidos (total de 280.808 casos excluídos).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Criação do Alvo Binário (TARGET): Mapeamento formal de Cura = 0 e Óbito por TB = 1.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Isolamento Rigoroso: A coluna original SITUA_ENCE foi expurgada da base e TARGET mantida isolada de qualquer cálculo de pré-processamento.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FUNIL POPULACIONAL DA COORTE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500315"/>
          <a:ext cx="7225595" cy="3431681"/>
        </p:xfrm>
        <a:graphic>
          <a:graphicData uri="http://schemas.openxmlformats.org/drawingml/2006/table">
            <a:tbl>
              <a:tblPr/>
              <a:tblGrid>
                <a:gridCol w="2453976"/>
                <a:gridCol w="1226988"/>
                <a:gridCol w="1090656"/>
                <a:gridCol w="2453976"/>
              </a:tblGrid>
              <a:tr h="57194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Estágio da Coorte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Volume (N)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% Base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Impacto Metodológico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57194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Base Bruta Original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884.221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Notificações de TB pulmonar (2014-2024)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7194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Outros Encerramentos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280.808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31,76%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Abandono, transferência, óbito outra causa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7194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Coorte Analítica Válida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603.413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68,24%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Pacientes com Cura ou Óbito por TB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7194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• Casos de Cura (0)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568.780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94,26%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Classe Majoritária (prevalência real)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7194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• Óbitos por TB (1)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34.633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5,74%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Classe Minoritária (desfecho alvo clínico)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grpSp>
        <p:nvGrpSpPr>
          <p:cNvPr name="Group 19" id="19"/>
          <p:cNvGrpSpPr/>
          <p:nvPr/>
        </p:nvGrpSpPr>
        <p:grpSpPr>
          <a:xfrm rot="0">
            <a:off x="9601562" y="7130748"/>
            <a:ext cx="7289463" cy="1867405"/>
            <a:chOff x="0" y="0"/>
            <a:chExt cx="9719285" cy="248987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719310" cy="2489962"/>
            </a:xfrm>
            <a:custGeom>
              <a:avLst/>
              <a:gdLst/>
              <a:ahLst/>
              <a:cxnLst/>
              <a:rect r="r" b="b" t="t" l="l"/>
              <a:pathLst>
                <a:path h="2489962" w="9719310">
                  <a:moveTo>
                    <a:pt x="0" y="415036"/>
                  </a:moveTo>
                  <a:cubicBezTo>
                    <a:pt x="0" y="185801"/>
                    <a:pt x="185801" y="0"/>
                    <a:pt x="415036" y="0"/>
                  </a:cubicBezTo>
                  <a:lnTo>
                    <a:pt x="9304274" y="0"/>
                  </a:lnTo>
                  <a:cubicBezTo>
                    <a:pt x="9533509" y="0"/>
                    <a:pt x="9719310" y="185801"/>
                    <a:pt x="9719310" y="415036"/>
                  </a:cubicBezTo>
                  <a:lnTo>
                    <a:pt x="9719310" y="2074926"/>
                  </a:lnTo>
                  <a:cubicBezTo>
                    <a:pt x="9719310" y="2304161"/>
                    <a:pt x="9533509" y="2489962"/>
                    <a:pt x="9304274" y="2489962"/>
                  </a:cubicBezTo>
                  <a:lnTo>
                    <a:pt x="415036" y="2489962"/>
                  </a:lnTo>
                  <a:cubicBezTo>
                    <a:pt x="185801" y="2489835"/>
                    <a:pt x="0" y="2304034"/>
                    <a:pt x="0" y="2074926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0EA5E9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9719285" cy="25184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0EA5E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🎯 DISTRIBUIÇÃO INICIAL DO DESFECHO</a:t>
              </a:r>
            </a:p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Cura: 568.780 registros (94,26%)  |  Óbito por TB: 34.633 registros (5,74%)</a:t>
              </a:r>
            </a:p>
            <a:p>
              <a:pPr algn="l">
                <a:lnSpc>
                  <a:spcPts val="1801"/>
                </a:lnSpc>
              </a:pPr>
              <a:r>
                <a:rPr lang="en-US" sz="1501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Razão de Desbalanceamento Inicial: ~16,4 casos de cura para cada óbito por TB.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3 • ATIVIDADE 3 (PARTE B)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Engenharia de Variáveis e Semântica de Ausência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Correção de truncamento, agregação geográfica e tratamento contextual de nulos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7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5166589" cy="6745157"/>
            <a:chOff x="0" y="0"/>
            <a:chExt cx="6888785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4415571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DECODIFICAÇÃO DA IDADE (NU_IDADE_N)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64116" y="3576571"/>
            <a:ext cx="4415571" cy="3505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Falha da Base Bruta: A coluna IDADE truncava centenários em 2 dígitos e misturava dias/meses.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Decodificação de 4 Dígitos: Unidade (1=horas, 2=dias, 3=meses -&gt; 0 anos; 4=anos -&gt; valor numérico real).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Preservação de Centenários: Casos legítimos de até 108 anos recuperados sem perda.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Coluna Derivada Criada: IDADE_ANOS pronta para análise estatística e discretização.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6579299" y="2529916"/>
            <a:ext cx="5166589" cy="6745157"/>
            <a:chOff x="0" y="0"/>
            <a:chExt cx="6888785" cy="899354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6954803" y="2859700"/>
            <a:ext cx="4415571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14B8A6"/>
                </a:solidFill>
                <a:latin typeface="Segoe UI Bold"/>
                <a:ea typeface="Segoe UI Bold"/>
                <a:cs typeface="Segoe UI Bold"/>
                <a:sym typeface="Segoe UI Bold"/>
              </a:rPr>
              <a:t>TEMPORALIDADE &amp; AGREGAÇÃO REGIONAL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54803" y="3576571"/>
            <a:ext cx="4415571" cy="297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Ano de Diagnóstico (ANO_DIAG): Extração dos 4 primeiros dígitos da data de diagnóstico (DT_DIAG: 2014 a 2024).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Redução da Cardinalidade Municipal: Mais de 5.200 municípios brasileiros agrupados em SG_UF (27 UFs) e REGIAO (5 macrorregiões).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Ganho Computacional: Previne explosão dimensional de one-hot encoding mantendo o poder epidemiológico.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069985" y="2529916"/>
            <a:ext cx="5166589" cy="6745157"/>
            <a:chOff x="0" y="0"/>
            <a:chExt cx="6888785" cy="899354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888861" cy="8993632"/>
            </a:xfrm>
            <a:custGeom>
              <a:avLst/>
              <a:gdLst/>
              <a:ahLst/>
              <a:cxnLst/>
              <a:rect r="r" b="b" t="t" l="l"/>
              <a:pathLst>
                <a:path h="8993632" w="6888861">
                  <a:moveTo>
                    <a:pt x="0" y="1148207"/>
                  </a:moveTo>
                  <a:cubicBezTo>
                    <a:pt x="0" y="514096"/>
                    <a:pt x="514096" y="0"/>
                    <a:pt x="1148207" y="0"/>
                  </a:cubicBezTo>
                  <a:lnTo>
                    <a:pt x="5740654" y="0"/>
                  </a:lnTo>
                  <a:cubicBezTo>
                    <a:pt x="6374765" y="0"/>
                    <a:pt x="6888861" y="514096"/>
                    <a:pt x="6888861" y="1148207"/>
                  </a:cubicBezTo>
                  <a:lnTo>
                    <a:pt x="6888861" y="7845425"/>
                  </a:lnTo>
                  <a:cubicBezTo>
                    <a:pt x="6888861" y="8479536"/>
                    <a:pt x="6374765" y="8993632"/>
                    <a:pt x="5740654" y="8993632"/>
                  </a:cubicBezTo>
                  <a:lnTo>
                    <a:pt x="1148207" y="8993632"/>
                  </a:lnTo>
                  <a:cubicBezTo>
                    <a:pt x="514096" y="8993505"/>
                    <a:pt x="0" y="8479536"/>
                    <a:pt x="0" y="78454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445489" y="2859700"/>
            <a:ext cx="4415571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IMPOSSÍVEIS &amp; SEMÂNTICA DO NÃO SE APLICA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445489" y="3576571"/>
            <a:ext cx="4415571" cy="3505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Contatos Examinados (NU_COMU_EX): Sentinelas '99', '999' e negativos convertidos em np.nan (37.770 casos corrigidos).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Gestação (CS_GESTANT): 'Não se aplica' para homens (&gt;69% da base); soma com faltantes femininos atinge 74,67% -&gt; descartada por corte de 60%.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Baciloscopia de Escarro (BACILOSC_E): 1,98% 'Não se aplica' (impossibilidade de expectorar) + 24,45% não realizada -&gt; unificada em 'Faltante'.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3 • ATIVIDADE 3 (PARTE C)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As 4 Regras Fixas de Descarte de Atributos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Redução determinística para 26 preditores candidatos sem contaminação estatística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Alves de Lima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8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5895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OS 4 PILARES DE EXCLUSÃO (REGRAS FIXAS)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1. Constantes (&gt;99% único valor): Descartadas por ausência de variância (ex.: TP_NOT, FORMA [100% pulmonar], ID_AGRAVO, ID_PAIS, IDADEminutos).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2. Faltantes (&gt;60% ausência na base bruta): 38 colunas originais descartadas (esquemas de rifampicina, isoniazida, pirazinamida com 66,83% nulos; migração e transferências &gt;66% a 100%; ID_OCUPA_N com 80,10%; CAPITAL com 62,29%).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3. Redundantes / Derivadas: Descartadas por duplicação (idades em dias/meses/anos substituídas por IDADE_ANOS; datas completas substituídas por ANO_DIAG; municípios agregados em SG_UF e REGIAO; NU_CONTATO).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4. Vazamento Temporal e Alvo: Descartadas por ocorrerem pós-início do tratamento ou encerramento (DT_ENCERRA, baciloscopias mensais BACILOSC_1 a BACILOSC_6, BAC_APOS_6, TRATSUP_AT, DT_MUDANCA, SITUA_ENCE).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Independência Amostral: As regras fixas operam na base integral antes de qualquer particionamento.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BALANÇO OFICIAL DAS 108 COLUNAS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500315"/>
          <a:ext cx="7244660" cy="4118017"/>
        </p:xfrm>
        <a:graphic>
          <a:graphicData uri="http://schemas.openxmlformats.org/drawingml/2006/table">
            <a:tbl>
              <a:tblPr/>
              <a:tblGrid>
                <a:gridCol w="2870526"/>
                <a:gridCol w="956842"/>
                <a:gridCol w="1093534"/>
                <a:gridCol w="2323759"/>
              </a:tblGrid>
              <a:tr h="51475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Classificação das Colunas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Qtd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% Base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Destino no Projeto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Total de Colunas Originais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100,0%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Base bruta do SINAN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Colunas Excluídas por Regras Fixas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77,8%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Descartadas (Catálogo CSV)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Colunas Originais Mantidas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22,2%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Variáveis clínicas e sociodemográficas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Colunas Derivadas Criadas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—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IDADE_ANOS e ANO_DIAG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Subtotal de Preditores Candidatos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26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—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Dentro da faixa meta [20, 30]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Variável Alvo Isolada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—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TARGET (0 = Cura, 1 = Óbito)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1475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Total no DataFrame df_modelo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27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—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26 preditores candidatos + 1 alvo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grpSp>
        <p:nvGrpSpPr>
          <p:cNvPr name="Group 19" id="19"/>
          <p:cNvGrpSpPr/>
          <p:nvPr/>
        </p:nvGrpSpPr>
        <p:grpSpPr>
          <a:xfrm rot="0">
            <a:off x="9601562" y="7817082"/>
            <a:ext cx="7289463" cy="1181071"/>
            <a:chOff x="0" y="0"/>
            <a:chExt cx="9719285" cy="157476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719310" cy="1574800"/>
            </a:xfrm>
            <a:custGeom>
              <a:avLst/>
              <a:gdLst/>
              <a:ahLst/>
              <a:cxnLst/>
              <a:rect r="r" b="b" t="t" l="l"/>
              <a:pathLst>
                <a:path h="1574800" w="9719310">
                  <a:moveTo>
                    <a:pt x="0" y="262509"/>
                  </a:moveTo>
                  <a:cubicBezTo>
                    <a:pt x="0" y="117475"/>
                    <a:pt x="117475" y="0"/>
                    <a:pt x="262509" y="0"/>
                  </a:cubicBezTo>
                  <a:lnTo>
                    <a:pt x="9456801" y="0"/>
                  </a:lnTo>
                  <a:cubicBezTo>
                    <a:pt x="9601708" y="0"/>
                    <a:pt x="9719310" y="117475"/>
                    <a:pt x="9719310" y="262509"/>
                  </a:cubicBezTo>
                  <a:lnTo>
                    <a:pt x="9719310" y="1312291"/>
                  </a:lnTo>
                  <a:cubicBezTo>
                    <a:pt x="9719310" y="1457198"/>
                    <a:pt x="9601835" y="1574800"/>
                    <a:pt x="9456801" y="1574800"/>
                  </a:cubicBezTo>
                  <a:lnTo>
                    <a:pt x="262509" y="1574800"/>
                  </a:lnTo>
                  <a:cubicBezTo>
                    <a:pt x="117475" y="1574800"/>
                    <a:pt x="0" y="1457198"/>
                    <a:pt x="0" y="1312291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0EA5E9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719285" cy="16128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📄 Entregável Gerado: tabela_decisao_todas_colunas.csv contendo 100% das 108 colunas catalogadas com significado clínico, % de faltantes, decisão (Fica/Sai) e justificativa.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TRANSIÇÃO FORMAL DE APRESENTAÇÃO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Transição entre os Apresentadores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Síntese da primeira metade e introdução da modelagem preditiva avançada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7"/>
            <a:chOff x="0" y="0"/>
            <a:chExt cx="5516105" cy="849023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8"/>
            </a:xfrm>
            <a:custGeom>
              <a:avLst/>
              <a:gdLst/>
              <a:ahLst/>
              <a:cxnLst/>
              <a:rect r="r" b="b" t="t" l="l"/>
              <a:pathLst>
                <a:path h="848998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9"/>
                  </a:lnTo>
                  <a:cubicBezTo>
                    <a:pt x="5516118" y="785625"/>
                    <a:pt x="5452745" y="848998"/>
                    <a:pt x="5374640" y="848998"/>
                  </a:cubicBezTo>
                  <a:lnTo>
                    <a:pt x="141478" y="848998"/>
                  </a:lnTo>
                  <a:cubicBezTo>
                    <a:pt x="63373" y="848998"/>
                    <a:pt x="0" y="785625"/>
                    <a:pt x="0" y="70751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-&gt; Lázaro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9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422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PARTE I CONCLUÍDA: DIAGNÓSTICO &amp; REGRAS FIXAS</a:t>
            </a:r>
          </a:p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👤 Apresentador: Kevin Luís Alves de Lima (Slides 1 a 9)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Diagnóstico Inicial de Faltantes (Ativ 1): Identificação de 4 colunas 100% vazias e 11 com &gt;97% via keep_default_na=False e strings vazias.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Triagem com Dicionário do SINAN (Ativ 2): Corte de 60% e descarte de metadados operacionais e IDs.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Resgate Total e Desfecho Binário (Ativ 3): Coorte com 603.413 pacientes elegíveis (94,26% Cura vs 5,74% Óbito).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Engenharia de Variáveis (Ativ 3): Decodificação da idade (NU_IDADE_N), extração de ANO_DIAG e agregação em SG_UF e REGIAO.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Tratamento Semântico e 4 Regras Fixas (Ativ 3): 84 colunas descartadas e 26 preditores candidatos consolidados.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5029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4B8A6"/>
                </a:solidFill>
                <a:latin typeface="Segoe UI Bold"/>
                <a:ea typeface="Segoe UI Bold"/>
                <a:cs typeface="Segoe UI Bold"/>
                <a:sym typeface="Segoe UI Bold"/>
              </a:rPr>
              <a:t>A SEGUIR NA PARTE II: MODELAGEM, SELEÇÃO &amp; RUS</a:t>
            </a:r>
          </a:p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👤 Apresentador: Lázaro Felipe da Rocha Santos (Slides 10 a 18)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Expurgo do Pós-Óbito (Ativ 4): Eliminação de 4.095 registros com causalidade reversa (target leakage grave).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Discretização Legal da Idade (Ativ 4): Enquadramento nas Leis 8.069/90 e 10.741/03 e missingness de Little &amp; Rubin.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Divisão 80/20 Estratificada (Ativ 4): Blindagem do teste e imputação univariada sem vazamento.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Seleção Univariada no Treino (Ativ 4): Ranqueamento por V de Cramér e ponto-bisserial refinando para Top 22.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Balanceamento por Random Undersampling 1:1 (Ativ 4): Treino balanceado (48k) com teste intacto (119k).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Análise Gráfica Pré-Balanceamento &amp; Auditoria Formal: Validação clínica da letalidade e relatório de conformidade.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4 • ATIVIDADE 4 (PARTE A)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Expurgo de Vazamento de Alvo: O Filtro Pós-Óbito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Identificação e eliminação de causalidade reversa em registros originados de Declaração de Óbito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10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4829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EF4444"/>
                </a:solidFill>
                <a:latin typeface="Segoe UI Bold"/>
                <a:ea typeface="Segoe UI Bold"/>
                <a:cs typeface="Segoe UI Bold"/>
                <a:sym typeface="Segoe UI Bold"/>
              </a:rPr>
              <a:t>O ACHADO FORENSE &amp; A CAUSALIDADE REVERSA</a:t>
            </a:r>
          </a:p>
          <a:p>
            <a:pPr algn="just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Descoberta na Variável TRATAMENTO: Identificados 4.095 registros com a condição de entrada 'Pós-óbito'.</a:t>
            </a:r>
          </a:p>
          <a:p>
            <a:pPr algn="just">
              <a:lnSpc>
                <a:spcPts val="2160"/>
              </a:lnSpc>
            </a:pPr>
          </a:p>
          <a:p>
            <a:pPr algn="just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Letalidade na Entrada de 99,85%: Desses 4.095 casos, 4.089 já ingressavam no sistema com desfecho Óbito por TB (e apenas 6 curas por erro cadastral).</a:t>
            </a:r>
          </a:p>
          <a:p>
            <a:pPr algn="just">
              <a:lnSpc>
                <a:spcPts val="2160"/>
              </a:lnSpc>
            </a:pPr>
          </a:p>
          <a:p>
            <a:pPr algn="just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Mecanismo da Vigilância em Saúde: Casos não diagnosticados em vida; a notificação ocorre compulsoriamente via necropsia do SVO ou Declaração de Óbito (DO).</a:t>
            </a:r>
          </a:p>
          <a:p>
            <a:pPr algn="just">
              <a:lnSpc>
                <a:spcPts val="2160"/>
              </a:lnSpc>
            </a:pPr>
          </a:p>
          <a:p>
            <a:pPr algn="just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Risco Crítico de Target Leakage: Em predição prospectiva na UBS, o paciente está vivo. Manter esses casos faria o modelo 'adivinhar' a morte pela etiqueta administrativa, inflacionando a acurácia de forma fraudulenta.</a:t>
            </a:r>
          </a:p>
          <a:p>
            <a:pPr algn="just">
              <a:lnSpc>
                <a:spcPts val="2160"/>
              </a:lnSpc>
            </a:pPr>
          </a:p>
          <a:p>
            <a:pPr algn="just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Ação Corretiva: Expurgo sumário dos 4.095 casos e conversão de 1.766 sentinelas 'Não sabe' em 'Faltante'.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COORTE VÁLIDA CONSOLIDADA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500315"/>
          <a:ext cx="7244660" cy="2955059"/>
        </p:xfrm>
        <a:graphic>
          <a:graphicData uri="http://schemas.openxmlformats.org/drawingml/2006/table">
            <a:tbl>
              <a:tblPr/>
              <a:tblGrid>
                <a:gridCol w="2460451"/>
                <a:gridCol w="1503609"/>
                <a:gridCol w="1640300"/>
                <a:gridCol w="1640300"/>
              </a:tblGrid>
              <a:tr h="59101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Métrica da Coorte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Pré-Filtro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Casos Removidos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Pós-Filtro (Final)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5910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Total de Registros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603.413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4.095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599.318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910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Casos de Cura (0)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568.780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 (0,15%)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568.774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5910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Óbitos por TB (1)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34.633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4.089 (99,85%)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30.544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59101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Taxa de Letalidade Real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5,74%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—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5,10%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  <p:grpSp>
        <p:nvGrpSpPr>
          <p:cNvPr name="Group 19" id="19"/>
          <p:cNvGrpSpPr/>
          <p:nvPr/>
        </p:nvGrpSpPr>
        <p:grpSpPr>
          <a:xfrm rot="0">
            <a:off x="9601562" y="6787582"/>
            <a:ext cx="7289463" cy="2210575"/>
            <a:chOff x="0" y="0"/>
            <a:chExt cx="9719285" cy="2947433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719310" cy="2947420"/>
            </a:xfrm>
            <a:custGeom>
              <a:avLst/>
              <a:gdLst/>
              <a:ahLst/>
              <a:cxnLst/>
              <a:rect r="r" b="b" t="t" l="l"/>
              <a:pathLst>
                <a:path h="2947420" w="9719310">
                  <a:moveTo>
                    <a:pt x="0" y="491237"/>
                  </a:moveTo>
                  <a:cubicBezTo>
                    <a:pt x="0" y="219964"/>
                    <a:pt x="219964" y="0"/>
                    <a:pt x="491236" y="0"/>
                  </a:cubicBezTo>
                  <a:lnTo>
                    <a:pt x="9228074" y="0"/>
                  </a:lnTo>
                  <a:cubicBezTo>
                    <a:pt x="9499346" y="0"/>
                    <a:pt x="9719310" y="219964"/>
                    <a:pt x="9719310" y="491237"/>
                  </a:cubicBezTo>
                  <a:lnTo>
                    <a:pt x="9719310" y="2456183"/>
                  </a:lnTo>
                  <a:cubicBezTo>
                    <a:pt x="9719310" y="2727456"/>
                    <a:pt x="9499346" y="2947420"/>
                    <a:pt x="9228074" y="2947420"/>
                  </a:cubicBezTo>
                  <a:lnTo>
                    <a:pt x="491236" y="2947420"/>
                  </a:lnTo>
                  <a:cubicBezTo>
                    <a:pt x="219964" y="2947420"/>
                    <a:pt x="0" y="2727456"/>
                    <a:pt x="0" y="2456183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10B981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9719285" cy="29760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10B98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🛡️ IMPACTO NA INTEGRIDADE DA MODELAGEM</a:t>
              </a:r>
            </a:p>
            <a:p>
              <a:pPr algn="just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eliminação dos 4.095 casos pós-óbito reduziu os óbitos de 34.633 para 30.544, estabelecendo a taxa de letalidade epidemiológica real da coorte em 5,10%. Essa coorte limpa de 599.318 registros segue para a divisão de treino e teste.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4 • ATIVIDADE 4 (PARTE B)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Discretização da Idade e Fundamentação Legal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Marcos jurídicos brasileiros, normas internacionais e preservação da ausência informativa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11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401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1876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AS 3 FAIXAS ETÁRIAS OFICIAIS &amp; MARCOS LEGAIS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Jovens (0 a 19 anos): Amparado no Estatuto da Criança e do Adolescente (Lei Federal nº 8.069/1990), Estatuto da Juventude (Lei nº 12.852/2013) e diretrizes da OMS e do IBGE. Captura a resposta imune pediátrica e juvenil.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Adultos (20 a 59 anos): Fundamentado no conceito de População em Idade Ativa (PIA / IBGE / Ministério da Saúde). Concentra a maioria das notificações e fatores ocupacionais.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Idosos (60 anos ou mais): Amparado no Estatuto da Pessoa Idosa (Lei Federal nº 10.741/2003 / Lei nº 14.423/2022) e Política Nacional do Idoso (Lei nº 8.842/1994). População com senescência imune e alta comorbidade.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Substituição Determinística: IDADE_ANOS foi substituída por FAIXA_ETARIA, mantendo o total de 26 preditores candidatos.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01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1876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TEORIA DE LITTLE &amp; RUBIN: AUSÊNCIA INFORMATIVA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Volume de Faltantes na Idade: Apenas 180 casos em 599.318 registros (0,030% da coorte; 144 no treino e 36 no teste).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Mecanismo MAR / MNAR (Missingness as a Signal): No SUS, a ausência de idade não é puramente aleatória; correlaciona-se com populações de extrema vulnerabilidade (população de rua desprovida de documentos, admissão comatosa de emergência).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Rejeição da Mediana (38 anos): Imputar mediana mascararia essa vulnerabilidade e atenuaria a variância estatística amostral.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Abordagem por Categoria Ausente (Missing-Category Approach): Criada categoria explícita 'Faltante'. Modelos de árvore particionam nativamente sem perda de linhas e sem distorção clínica.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4 • ATIVIDADE 4 (PARTE C)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Partição Estratificada 80/20 e Isolamento Estrito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Garantia de equivalência da taxa de desfecho e blindagem metodológica do conjunto de teste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12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PARTIÇÃO ESTRATIFICADA (RANDOM_STATE = 42)</a:t>
            </a:r>
          </a:p>
        </p:txBody>
      </p:sp>
      <p:graphicFrame>
        <p:nvGraphicFramePr>
          <p:cNvPr name="Table 15" id="15"/>
          <p:cNvGraphicFramePr>
            <a:graphicFrameLocks noGrp="true"/>
          </p:cNvGraphicFramePr>
          <p:nvPr/>
        </p:nvGraphicFramePr>
        <p:xfrm>
          <a:off x="1372672" y="3500315"/>
          <a:ext cx="7244660" cy="2440306"/>
        </p:xfrm>
        <a:graphic>
          <a:graphicData uri="http://schemas.openxmlformats.org/drawingml/2006/table">
            <a:tbl>
              <a:tblPr/>
              <a:tblGrid>
                <a:gridCol w="2323759"/>
                <a:gridCol w="1503609"/>
                <a:gridCol w="1640300"/>
                <a:gridCol w="1776992"/>
              </a:tblGrid>
              <a:tr h="610077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Partição Amostral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Volume Total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Curas (0)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Óbitos por TB (1)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61007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Treino (80,0%)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479.454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455.019 (94,90%)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24.435 (5,10%)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61007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Teste (20,0%)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119.864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113.755 (94,90%)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6.109 (5,10%)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61007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Coorte Válida Total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599.318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568.774 (94,90%)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30.544 (5,10%)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name="TextBox 16" id="16"/>
          <p:cNvSpPr txBox="true"/>
          <p:nvPr/>
        </p:nvSpPr>
        <p:spPr>
          <a:xfrm rot="0">
            <a:off x="1464116" y="6253277"/>
            <a:ext cx="7092286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Amostragem Aleatória Estratificada: Preservação estrita da proporção clínica de 5,10% de óbitos em ambas as partições.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Reprodutibilidade Científica: Fixação da semente random_state=42.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Justificativa da Opção Estratificada vs Temporal: A partição temporal pura sofreria fortes distorções pela pandemia de COVID-19 (2020-2022); a estratificada assegura estabilidade epidemiológica perfeita.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9700146" y="2859700"/>
            <a:ext cx="7092286" cy="4000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BLINDAGEM &amp; PROTOCOLO DO ISOLAMENTO ESTRITO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Blindagem Absoluta do Teste (Strict Hold-out): O conjunto de teste (119.864 casos) jamais participou de qualquer decisão, imputação, cálculo estatístico ou balanceamento.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Tratamento de Faltantes da Contínua (NU_COMU_EX): A mediana dos contatos examinados foi calculada unicamente sobre o treino (mediana = 1,0 contato).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Aplicação Cega: O hiperparâmetro de 1,0 contato foi aplicado cegamente ao treino e ao teste, eliminando vazamento de dados trans-partição.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Avaliação Ecológica Garantida: O teste espelha fielmente o ambiente real do SUS para posterior validação de sensibilidade, especificidade e calibração de risco.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5 • ATIVIDADE 4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Seleção Univariada de Atributos no Treino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Ranqueamento por magnitude de efeito padronizada e refinamento para 22 preditores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13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168770" cy="426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O PARADOXO DO P-VALOR EM BIG DATA POPULACIONAL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Inadequação do P-Valor Puro: Em amostras massivas (N = 479.454), o poder estatístico assintótico é máximo. Todas as 26 variáveis apresentaram p-valor &lt; 10^(-34). Portanto, o p-valor puro é incapaz de ranquear importância clínica real.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Métricas de Magnitude de Efeito Adotadas: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V de Cramér para as 25 variáveis categóricas: raiz quadrada do qui-quadrado         normalizado pelo tamanho da amostra.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Correlação Ponto-Bisserial para NU_COMU_EX (|r|).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Execução Estrita no Treino: Todas as métricas foram calculadas exclusivamente sobre X_train e y_train.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Critério de Corte (V &gt;= 0,0325): Retenção de 22 preditores robustos, cumprindo com folga a meta recomendada de [20, 30] variáveis.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SAÍDAS OBTIDAS: TOP PREDITORES &amp; 4 DESCARTADOS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9608707" y="3431681"/>
          <a:ext cx="7225595" cy="5452560"/>
        </p:xfrm>
        <a:graphic>
          <a:graphicData uri="http://schemas.openxmlformats.org/drawingml/2006/table">
            <a:tbl>
              <a:tblPr/>
              <a:tblGrid>
                <a:gridCol w="954324"/>
                <a:gridCol w="1772316"/>
                <a:gridCol w="1499652"/>
                <a:gridCol w="1090656"/>
                <a:gridCol w="1908648"/>
              </a:tblGrid>
              <a:tr h="49568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Posto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Atributo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Métrica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Valor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Decisão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1º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FAIXA_ETARIA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0,1339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 (Fator Biológico Top 1)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2º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TRATAMENTO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0,0887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 (Histórico Clínico)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3º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AGRAVAIDS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0,0841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 (Imunossupressão Severa)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4º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HIV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0,0768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 (Coinfecção Viral)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5º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CS_ESCOL_N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0,0759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 (Determinante Social)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6º a 22º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17 variáveis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/ |r|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0,0640 - 0,0326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Mantidos (TPUNINOT, Raio-X, Álcool...)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23º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BACILOSC_E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0,0264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Descartado (Abaixo do corte de 0,0325)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24º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POP_SAUDE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0,0098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Descartado (Baixa incidência)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49568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25º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POP_IMIG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0,0090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Descartado (Restrição regional)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95698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26º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CS_RACA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V de Cramér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0,0077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Descartado (Menor associação)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6 • ATIVIDADE 4 (PARTE A)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Balanceamento do Treino: RUS vs NearMiss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Inviabilidade computacional de algoritmos baseados em distância e virtudes do undersampling aleatório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14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6745157"/>
            <a:chOff x="0" y="0"/>
            <a:chExt cx="10457726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859700"/>
            <a:ext cx="7092286" cy="3752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1876" b="true">
                <a:solidFill>
                  <a:srgbClr val="EF4444"/>
                </a:solidFill>
                <a:latin typeface="Segoe UI Bold"/>
                <a:ea typeface="Segoe UI Bold"/>
                <a:cs typeface="Segoe UI Bold"/>
                <a:sym typeface="Segoe UI Bold"/>
              </a:rPr>
              <a:t>REJEIÇÃO TÉCNICA CATEGÓRICA DO NEARMISS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Complexidade Quadrática O(N_maj * N_min): Exige calcular vizinhos mais próximos entre 455.019 curas e 24.435 óbitos.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Mais de 11 Bilhões de Cálculos de Distância: Matrizes de distância euclidiana em 22 dimensões exigem dezenas de gigabytes de RAM.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Inviabilidade Computacional: Falha de Out-Of-Memory (OOM) ou tempos de execução na escala de dezenas de horas.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Distorção Clínica &amp; Ruído de Fronteira: O NearMiss seleciona instâncias na fronteira de decisão. Em dados do SUS, isso significa capturar registros com inconsistências cadastrais ou apresentações clínicas atípicas, gerando sobreajuste severo.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24642" y="2529916"/>
            <a:ext cx="7843295" cy="6745157"/>
            <a:chOff x="0" y="0"/>
            <a:chExt cx="10457726" cy="899354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457688" cy="8993632"/>
            </a:xfrm>
            <a:custGeom>
              <a:avLst/>
              <a:gdLst/>
              <a:ahLst/>
              <a:cxnLst/>
              <a:rect r="r" b="b" t="t" l="l"/>
              <a:pathLst>
                <a:path h="8993632" w="10457688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8958834" y="0"/>
                  </a:lnTo>
                  <a:cubicBezTo>
                    <a:pt x="9786620" y="0"/>
                    <a:pt x="10457688" y="671068"/>
                    <a:pt x="10457688" y="1498981"/>
                  </a:cubicBezTo>
                  <a:lnTo>
                    <a:pt x="10457688" y="7494651"/>
                  </a:lnTo>
                  <a:cubicBezTo>
                    <a:pt x="10457688" y="8322564"/>
                    <a:pt x="9786620" y="8993632"/>
                    <a:pt x="8958707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9700146" y="2859700"/>
            <a:ext cx="7092286" cy="3752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1"/>
              </a:lnSpc>
            </a:pPr>
            <a:r>
              <a:rPr lang="en-US" sz="1876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VANTAGENS DO RANDOM UNDERSAMPLING (RUS) 1:1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Complexidade Linear O(N): Execução em fração de segundos, reprodutível com random_state=42.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Preservação Ecológica: Mantém a representatividade da distribuição natural dos curados em todos os municípios brasileiros.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Volume Amostral Robusto: Treino balanceado resulta em 48.870 casos (24.435 curas e 24.435 óbitos) — volume massivo para convergência de XGBoost, LightGBM e Redes Neurais.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Blindagem do Teste: O balanceamento opera estritamente sobre o treino. O teste permanece com sua distribuição real de 5,10%, pois avaliar calibração em teste artificialmente balanceado destruiria a validade clínica.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ETAPA 6 • ATIVIDADE 4 (PARTE B)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Tabela Comparativa de Proporções Amostrais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Síntese quantitativa do particionamento e balanceamento consolidada no entregável CSV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15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16079333" cy="6745157"/>
            <a:chOff x="0" y="0"/>
            <a:chExt cx="21439111" cy="89935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439124" cy="8993632"/>
            </a:xfrm>
            <a:custGeom>
              <a:avLst/>
              <a:gdLst/>
              <a:ahLst/>
              <a:cxnLst/>
              <a:rect r="r" b="b" t="t" l="l"/>
              <a:pathLst>
                <a:path h="8993632" w="21439124">
                  <a:moveTo>
                    <a:pt x="0" y="1498981"/>
                  </a:moveTo>
                  <a:cubicBezTo>
                    <a:pt x="0" y="671068"/>
                    <a:pt x="671068" y="0"/>
                    <a:pt x="1498981" y="0"/>
                  </a:cubicBezTo>
                  <a:lnTo>
                    <a:pt x="19940143" y="0"/>
                  </a:lnTo>
                  <a:cubicBezTo>
                    <a:pt x="20768056" y="0"/>
                    <a:pt x="21439124" y="671068"/>
                    <a:pt x="21439124" y="1498981"/>
                  </a:cubicBezTo>
                  <a:lnTo>
                    <a:pt x="21439124" y="7494651"/>
                  </a:lnTo>
                  <a:cubicBezTo>
                    <a:pt x="21439124" y="8322564"/>
                    <a:pt x="20768056" y="8993632"/>
                    <a:pt x="19940143" y="8993632"/>
                  </a:cubicBezTo>
                  <a:lnTo>
                    <a:pt x="1498981" y="8993632"/>
                  </a:lnTo>
                  <a:cubicBezTo>
                    <a:pt x="671068" y="8993505"/>
                    <a:pt x="0" y="8322437"/>
                    <a:pt x="0" y="74946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601381" y="2859700"/>
            <a:ext cx="14916512" cy="457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CONSOLIDAÇÃO NUMÉRICA: ARQUIVO TABELA_PROPORCOES_BALANCEAMENTO.CSV</a:t>
            </a:r>
          </a:p>
        </p:txBody>
      </p:sp>
      <p:graphicFrame>
        <p:nvGraphicFramePr>
          <p:cNvPr name="Table 15" id="15"/>
          <p:cNvGraphicFramePr>
            <a:graphicFrameLocks noGrp="true"/>
          </p:cNvGraphicFramePr>
          <p:nvPr/>
        </p:nvGraphicFramePr>
        <p:xfrm>
          <a:off x="1509940" y="3568948"/>
          <a:ext cx="15156591" cy="2592826"/>
        </p:xfrm>
        <a:graphic>
          <a:graphicData uri="http://schemas.openxmlformats.org/drawingml/2006/table">
            <a:tbl>
              <a:tblPr/>
              <a:tblGrid>
                <a:gridCol w="3413647"/>
                <a:gridCol w="1911642"/>
                <a:gridCol w="1775096"/>
                <a:gridCol w="1911642"/>
                <a:gridCol w="1775096"/>
                <a:gridCol w="1911642"/>
                <a:gridCol w="2457826"/>
              </a:tblGrid>
              <a:tr h="64820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Partição Amostral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Casos de Cura (N)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Proporção Cura (%)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Óbitos por TB (N)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Proporção Óbito (%)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Volume Total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801"/>
                        </a:lnSpc>
                        <a:defRPr/>
                      </a:pPr>
                      <a:r>
                        <a:rPr lang="en-US" sz="150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Representatividade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6482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Treino (Pré-Balanceamento)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455.019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94,90%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24.435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5,10%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479.454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80,00% da Coorte Válida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6482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Treino (Pós-Balanceamento)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24.435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24.435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50,00%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48.870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Amostra Balanceada 1:1 (RUS)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248"/>
                    </a:solidFill>
                  </a:tcPr>
                </a:tc>
              </a:tr>
              <a:tr h="648206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1621"/>
                        </a:lnSpc>
                        <a:defRPr/>
                      </a:pPr>
                      <a:r>
                        <a:rPr lang="en-US" sz="1351" b="true">
                          <a:solidFill>
                            <a:srgbClr val="F8FAFC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Teste (Rigorosamente Isolado)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113.755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94,90%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6.109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5,10%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119.864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621"/>
                        </a:lnSpc>
                        <a:defRPr/>
                      </a:pPr>
                      <a:r>
                        <a:rPr lang="en-US" sz="1351">
                          <a:solidFill>
                            <a:srgbClr val="F8FAFC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20,00% da Coorte Válida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4762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grpSp>
        <p:nvGrpSpPr>
          <p:cNvPr name="Group 16" id="16"/>
          <p:cNvGrpSpPr/>
          <p:nvPr/>
        </p:nvGrpSpPr>
        <p:grpSpPr>
          <a:xfrm rot="0">
            <a:off x="1502788" y="6513043"/>
            <a:ext cx="4955915" cy="2416475"/>
            <a:chOff x="0" y="0"/>
            <a:chExt cx="6607886" cy="32219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607810" cy="3221866"/>
            </a:xfrm>
            <a:custGeom>
              <a:avLst/>
              <a:gdLst/>
              <a:ahLst/>
              <a:cxnLst/>
              <a:rect r="r" b="b" t="t" l="l"/>
              <a:pathLst>
                <a:path h="3221866" w="6607810">
                  <a:moveTo>
                    <a:pt x="0" y="536956"/>
                  </a:moveTo>
                  <a:cubicBezTo>
                    <a:pt x="0" y="240411"/>
                    <a:pt x="240411" y="0"/>
                    <a:pt x="536956" y="0"/>
                  </a:cubicBezTo>
                  <a:lnTo>
                    <a:pt x="6070854" y="0"/>
                  </a:lnTo>
                  <a:cubicBezTo>
                    <a:pt x="6367399" y="0"/>
                    <a:pt x="6607810" y="240411"/>
                    <a:pt x="6607810" y="536956"/>
                  </a:cubicBezTo>
                  <a:lnTo>
                    <a:pt x="6607810" y="2684909"/>
                  </a:lnTo>
                  <a:cubicBezTo>
                    <a:pt x="6607810" y="2981454"/>
                    <a:pt x="6367399" y="3221866"/>
                    <a:pt x="6070854" y="3221866"/>
                  </a:cubicBezTo>
                  <a:lnTo>
                    <a:pt x="536956" y="3221866"/>
                  </a:lnTo>
                  <a:cubicBezTo>
                    <a:pt x="240411" y="3221992"/>
                    <a:pt x="0" y="2981581"/>
                    <a:pt x="0" y="2684909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94A3B8"/>
              </a:soli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6607886" cy="3231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1"/>
                </a:lnSpc>
              </a:pPr>
              <a:r>
                <a:rPr lang="en-US" sz="1576" b="true">
                  <a:solidFill>
                    <a:srgbClr val="94A3B8"/>
                  </a:solidFill>
                  <a:latin typeface="Segoe UI Bold"/>
                  <a:ea typeface="Segoe UI Bold"/>
                  <a:cs typeface="Segoe UI Bold"/>
                  <a:sym typeface="Segoe UI Bold"/>
                </a:rPr>
                <a:t>TREINO PRÉ-BALANCEAMENTO</a:t>
              </a:r>
            </a:p>
            <a:p>
              <a:pPr algn="l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Espelho fiel da epidemiologia do SUS. Serviu para o cálculo univariado de seleção de atributos e análise gráfica.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718945" y="6513045"/>
            <a:ext cx="4955915" cy="2416473"/>
            <a:chOff x="0" y="0"/>
            <a:chExt cx="6607886" cy="322196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607810" cy="3221863"/>
            </a:xfrm>
            <a:custGeom>
              <a:avLst/>
              <a:gdLst/>
              <a:ahLst/>
              <a:cxnLst/>
              <a:rect r="r" b="b" t="t" l="l"/>
              <a:pathLst>
                <a:path h="3221863" w="6607810">
                  <a:moveTo>
                    <a:pt x="0" y="536956"/>
                  </a:moveTo>
                  <a:cubicBezTo>
                    <a:pt x="0" y="240411"/>
                    <a:pt x="240411" y="0"/>
                    <a:pt x="536956" y="0"/>
                  </a:cubicBezTo>
                  <a:lnTo>
                    <a:pt x="6070854" y="0"/>
                  </a:lnTo>
                  <a:cubicBezTo>
                    <a:pt x="6367399" y="0"/>
                    <a:pt x="6607810" y="240411"/>
                    <a:pt x="6607810" y="536956"/>
                  </a:cubicBezTo>
                  <a:lnTo>
                    <a:pt x="6607810" y="2684907"/>
                  </a:lnTo>
                  <a:cubicBezTo>
                    <a:pt x="6607810" y="2981452"/>
                    <a:pt x="6367399" y="3221863"/>
                    <a:pt x="6070854" y="3221863"/>
                  </a:cubicBezTo>
                  <a:lnTo>
                    <a:pt x="536956" y="3221863"/>
                  </a:lnTo>
                  <a:cubicBezTo>
                    <a:pt x="240411" y="3221990"/>
                    <a:pt x="0" y="2981579"/>
                    <a:pt x="0" y="2684907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10B981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607886" cy="32314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1"/>
                </a:lnSpc>
              </a:pPr>
              <a:r>
                <a:rPr lang="en-US" sz="1576" b="true">
                  <a:solidFill>
                    <a:srgbClr val="10B981"/>
                  </a:solidFill>
                  <a:latin typeface="Segoe UI Bold"/>
                  <a:ea typeface="Segoe UI Bold"/>
                  <a:cs typeface="Segoe UI Bold"/>
                  <a:sym typeface="Segoe UI Bold"/>
                </a:rPr>
                <a:t>TREINO PÓS-BALANCEAMENTO</a:t>
              </a:r>
            </a:p>
            <a:p>
              <a:pPr algn="l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48.870 instâncias (50%/50%). Elimina o viés do classificador em direção à classe majoritária sem ruído de síntese.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1935101" y="6513043"/>
            <a:ext cx="4955915" cy="2416475"/>
            <a:chOff x="0" y="0"/>
            <a:chExt cx="6607886" cy="322196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607810" cy="3221866"/>
            </a:xfrm>
            <a:custGeom>
              <a:avLst/>
              <a:gdLst/>
              <a:ahLst/>
              <a:cxnLst/>
              <a:rect r="r" b="b" t="t" l="l"/>
              <a:pathLst>
                <a:path h="3221866" w="6607810">
                  <a:moveTo>
                    <a:pt x="0" y="536956"/>
                  </a:moveTo>
                  <a:cubicBezTo>
                    <a:pt x="0" y="240411"/>
                    <a:pt x="240411" y="0"/>
                    <a:pt x="536956" y="0"/>
                  </a:cubicBezTo>
                  <a:lnTo>
                    <a:pt x="6070854" y="0"/>
                  </a:lnTo>
                  <a:cubicBezTo>
                    <a:pt x="6367399" y="0"/>
                    <a:pt x="6607810" y="240411"/>
                    <a:pt x="6607810" y="536956"/>
                  </a:cubicBezTo>
                  <a:lnTo>
                    <a:pt x="6607810" y="2684909"/>
                  </a:lnTo>
                  <a:cubicBezTo>
                    <a:pt x="6607810" y="2981454"/>
                    <a:pt x="6367399" y="3221866"/>
                    <a:pt x="6070854" y="3221866"/>
                  </a:cubicBezTo>
                  <a:lnTo>
                    <a:pt x="536956" y="3221866"/>
                  </a:lnTo>
                  <a:cubicBezTo>
                    <a:pt x="240411" y="3221992"/>
                    <a:pt x="0" y="2981581"/>
                    <a:pt x="0" y="2684909"/>
                  </a:cubicBezTo>
                  <a:close/>
                </a:path>
              </a:pathLst>
            </a:custGeom>
            <a:solidFill>
              <a:srgbClr val="243248"/>
            </a:solidFill>
            <a:ln w="14299" cap="sq">
              <a:solidFill>
                <a:srgbClr val="0EA5E9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9525"/>
              <a:ext cx="6607886" cy="3231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1"/>
                </a:lnSpc>
              </a:pPr>
              <a:r>
                <a:rPr lang="en-US" sz="1576" b="true">
                  <a:solidFill>
                    <a:srgbClr val="0EA5E9"/>
                  </a:solidFill>
                  <a:latin typeface="Segoe UI Bold"/>
                  <a:ea typeface="Segoe UI Bold"/>
                  <a:cs typeface="Segoe UI Bold"/>
                  <a:sym typeface="Segoe UI Bold"/>
                </a:rPr>
                <a:t>TESTE RIGOROSAMENTE ISOLADO</a:t>
              </a:r>
            </a:p>
            <a:p>
              <a:pPr algn="l">
                <a:lnSpc>
                  <a:spcPts val="1711"/>
                </a:lnSpc>
              </a:pPr>
              <a:r>
                <a:rPr lang="en-US" sz="1426">
                  <a:solidFill>
                    <a:srgbClr val="F8FAFC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119.864 instâncias mantidas na prevalência real de 5,10%. Permite mensurar Precisão, F1-Score e VPP reais.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ANÁLISE GRÁFICA • ATIVIDADE 4 (R5)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Taxa de Letalidade por Faixa Etária no Treino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Gradiente biológico monotônico de letalidade extraído estritamente sobre os dados pré-balanceamento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Lázaro Felipe da Rocha Santos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16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70797" y="2344188"/>
            <a:ext cx="10385767" cy="6930885"/>
            <a:chOff x="0" y="0"/>
            <a:chExt cx="13847690" cy="92411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847728" cy="9241270"/>
            </a:xfrm>
            <a:custGeom>
              <a:avLst/>
              <a:gdLst/>
              <a:ahLst/>
              <a:cxnLst/>
              <a:rect r="r" b="b" t="t" l="l"/>
              <a:pathLst>
                <a:path h="9241270" w="13847728">
                  <a:moveTo>
                    <a:pt x="0" y="1540255"/>
                  </a:moveTo>
                  <a:cubicBezTo>
                    <a:pt x="0" y="689546"/>
                    <a:pt x="745149" y="0"/>
                    <a:pt x="1664458" y="0"/>
                  </a:cubicBezTo>
                  <a:lnTo>
                    <a:pt x="12183274" y="0"/>
                  </a:lnTo>
                  <a:cubicBezTo>
                    <a:pt x="13102583" y="0"/>
                    <a:pt x="13847728" y="689546"/>
                    <a:pt x="13847728" y="1540255"/>
                  </a:cubicBezTo>
                  <a:lnTo>
                    <a:pt x="13847728" y="7701016"/>
                  </a:lnTo>
                  <a:cubicBezTo>
                    <a:pt x="13847728" y="8551726"/>
                    <a:pt x="13102583" y="9241270"/>
                    <a:pt x="12183274" y="9241270"/>
                  </a:cubicBezTo>
                  <a:lnTo>
                    <a:pt x="1664458" y="9241270"/>
                  </a:lnTo>
                  <a:cubicBezTo>
                    <a:pt x="745149" y="9241141"/>
                    <a:pt x="0" y="8551595"/>
                    <a:pt x="0" y="770101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412953" y="2676716"/>
            <a:ext cx="9958322" cy="6451559"/>
            <a:chOff x="0" y="0"/>
            <a:chExt cx="13277763" cy="8602078"/>
          </a:xfrm>
        </p:grpSpPr>
        <p:sp>
          <p:nvSpPr>
            <p:cNvPr name="Freeform 15" id="15" descr="grafico_desfecho_faixa_etaria.png"/>
            <p:cNvSpPr/>
            <p:nvPr/>
          </p:nvSpPr>
          <p:spPr>
            <a:xfrm flipH="false" flipV="false" rot="0">
              <a:off x="0" y="0"/>
              <a:ext cx="13277721" cy="8602091"/>
            </a:xfrm>
            <a:custGeom>
              <a:avLst/>
              <a:gdLst/>
              <a:ahLst/>
              <a:cxnLst/>
              <a:rect r="r" b="b" t="t" l="l"/>
              <a:pathLst>
                <a:path h="8602091" w="13277721">
                  <a:moveTo>
                    <a:pt x="0" y="0"/>
                  </a:moveTo>
                  <a:lnTo>
                    <a:pt x="13277721" y="0"/>
                  </a:lnTo>
                  <a:lnTo>
                    <a:pt x="13277721" y="8602091"/>
                  </a:lnTo>
                  <a:lnTo>
                    <a:pt x="0" y="86020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4354" t="0" r="-4354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697308" y="2529916"/>
            <a:ext cx="6470628" cy="6745157"/>
            <a:chOff x="0" y="0"/>
            <a:chExt cx="8627504" cy="899354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627491" cy="8993505"/>
            </a:xfrm>
            <a:custGeom>
              <a:avLst/>
              <a:gdLst/>
              <a:ahLst/>
              <a:cxnLst/>
              <a:rect r="r" b="b" t="t" l="l"/>
              <a:pathLst>
                <a:path h="8993505" w="8627491">
                  <a:moveTo>
                    <a:pt x="0" y="1437894"/>
                  </a:moveTo>
                  <a:cubicBezTo>
                    <a:pt x="0" y="643763"/>
                    <a:pt x="643763" y="0"/>
                    <a:pt x="1437894" y="0"/>
                  </a:cubicBezTo>
                  <a:lnTo>
                    <a:pt x="7189597" y="0"/>
                  </a:lnTo>
                  <a:cubicBezTo>
                    <a:pt x="7983728" y="0"/>
                    <a:pt x="8627491" y="643763"/>
                    <a:pt x="8627491" y="1437894"/>
                  </a:cubicBezTo>
                  <a:lnTo>
                    <a:pt x="8627491" y="7555611"/>
                  </a:lnTo>
                  <a:cubicBezTo>
                    <a:pt x="8627491" y="8349742"/>
                    <a:pt x="7983728" y="8993505"/>
                    <a:pt x="7189597" y="8993505"/>
                  </a:cubicBezTo>
                  <a:lnTo>
                    <a:pt x="1437894" y="8993505"/>
                  </a:lnTo>
                  <a:cubicBezTo>
                    <a:pt x="643763" y="8993505"/>
                    <a:pt x="0" y="8349742"/>
                    <a:pt x="0" y="755561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1072822" y="2859700"/>
            <a:ext cx="5719610" cy="6124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1"/>
              </a:lnSpc>
            </a:pPr>
            <a:r>
              <a:rPr lang="en-US" sz="1726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ANÁLISE CLÍNICA &amp; DADOS QUANTITATIVOS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Atributo Eleito: FAIXA_ETARIA (V = 0,1339; qui-quadrado = 8.594,40; 1º lugar geral entre os 26 preditores candidatos).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População Base: Conjunto de treino pré-balanceamento (N = 479.454 registros).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Gradiente de Letalidade Observado: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Jovens (0 a 19): 1,28% (506 óbitos / 39.470)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Adultos (20 a 59): 4,07% (14.834 óbitos / 364.792)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Idosos (60+ anos): 12,11% (9.089 óbitos / 75.048)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Faltante: 4,17% (6 óbitos / 144)</a:t>
            </a: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  • Linha de Base Geral: 5,10% (tracejada vermelha)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Razão de Risco em Idosos: 9,46x maior que jovens!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Mecanismo Biopatológico: Imunossenescência, diagnósticos tardios e sobreposição com diabetes e hipertensão explicam a explosão de letalidade nos idosos.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Por que Pré-Balanceamento: No treino pós-balanceamento, a média seria artificialmente de 50%, destruindo o perfil epidemiológico real.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98137" y="549069"/>
            <a:ext cx="11667715" cy="4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CONCLUSÃO &amp; IMPACTO NO SUS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8137" y="988324"/>
            <a:ext cx="11667715" cy="754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2"/>
              </a:lnSpc>
            </a:pPr>
            <a:r>
              <a:rPr lang="en-US" sz="3152" b="true">
                <a:solidFill>
                  <a:srgbClr val="F8FAFC"/>
                </a:solidFill>
                <a:latin typeface="Segoe UI Bold"/>
                <a:ea typeface="Segoe UI Bold"/>
                <a:cs typeface="Segoe UI Bold"/>
                <a:sym typeface="Segoe UI Bold"/>
              </a:rPr>
              <a:t>Conclusões e Prontidão para Modelagem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8137" y="1746371"/>
            <a:ext cx="11667715" cy="5597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Excelência metodológica em IA biomédica voltada à redução da mortalidade por tuberculose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3030857" y="608171"/>
            <a:ext cx="4137079" cy="636765"/>
            <a:chOff x="0" y="0"/>
            <a:chExt cx="5516105" cy="8490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16118" cy="848995"/>
            </a:xfrm>
            <a:custGeom>
              <a:avLst/>
              <a:gdLst/>
              <a:ahLst/>
              <a:cxnLst/>
              <a:rect r="r" b="b" t="t" l="l"/>
              <a:pathLst>
                <a:path h="848995" w="5516118">
                  <a:moveTo>
                    <a:pt x="0" y="141478"/>
                  </a:moveTo>
                  <a:cubicBezTo>
                    <a:pt x="0" y="63373"/>
                    <a:pt x="63373" y="0"/>
                    <a:pt x="141478" y="0"/>
                  </a:cubicBezTo>
                  <a:lnTo>
                    <a:pt x="5374640" y="0"/>
                  </a:lnTo>
                  <a:cubicBezTo>
                    <a:pt x="5452745" y="0"/>
                    <a:pt x="5516118" y="63373"/>
                    <a:pt x="5516118" y="141478"/>
                  </a:cubicBezTo>
                  <a:lnTo>
                    <a:pt x="5516118" y="707517"/>
                  </a:lnTo>
                  <a:cubicBezTo>
                    <a:pt x="5516118" y="785622"/>
                    <a:pt x="5452745" y="848995"/>
                    <a:pt x="5374640" y="848995"/>
                  </a:cubicBezTo>
                  <a:lnTo>
                    <a:pt x="141478" y="848995"/>
                  </a:lnTo>
                  <a:cubicBezTo>
                    <a:pt x="63373" y="848995"/>
                    <a:pt x="0" y="785622"/>
                    <a:pt x="0" y="70751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4B8A6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5516105" cy="88712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1"/>
                </a:lnSpc>
              </a:pPr>
              <a:r>
                <a:rPr lang="en-US" sz="1501" b="true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👤 Kevin Luís &amp; Lázaro Felipe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098137" y="9648768"/>
            <a:ext cx="10981382" cy="4403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1"/>
              </a:lnSpc>
            </a:pPr>
            <a:r>
              <a:rPr lang="en-US" sz="1351">
                <a:solidFill>
                  <a:srgbClr val="334155"/>
                </a:solidFill>
                <a:latin typeface="Calibri (MS)"/>
                <a:ea typeface="Calibri (MS)"/>
                <a:cs typeface="Calibri (MS)"/>
                <a:sym typeface="Calibri (MS)"/>
              </a:rPr>
              <a:t>Tópicos Avançados em Inteligência Artificial • Coorte SINAN/SUS (2014–2024)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413059" y="9648768"/>
            <a:ext cx="274534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94A3B8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Slide 17 de 17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88603" y="2529916"/>
            <a:ext cx="7843295" cy="3313481"/>
            <a:chOff x="0" y="0"/>
            <a:chExt cx="10457726" cy="441797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457688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457688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721342" y="0"/>
                  </a:lnTo>
                  <a:cubicBezTo>
                    <a:pt x="10127997" y="0"/>
                    <a:pt x="10457688" y="329692"/>
                    <a:pt x="10457688" y="736346"/>
                  </a:cubicBezTo>
                  <a:lnTo>
                    <a:pt x="10457688" y="3681603"/>
                  </a:lnTo>
                  <a:cubicBezTo>
                    <a:pt x="10457688" y="4088257"/>
                    <a:pt x="10127997" y="4417949"/>
                    <a:pt x="9721342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464116" y="2749887"/>
            <a:ext cx="7092286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0EA5E9"/>
                </a:solidFill>
                <a:latin typeface="Segoe UI Bold"/>
                <a:ea typeface="Segoe UI Bold"/>
                <a:cs typeface="Segoe UI Bold"/>
                <a:sym typeface="Segoe UI Bold"/>
              </a:rPr>
              <a:t>BLINDAGEM METODOLÓGICA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464116" y="3370669"/>
            <a:ext cx="7092286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Zero Vazamento de Dados (Leakage): Expurgo de 4.095 notificações pós-óbito e 22 variáveis temporais.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Isolamento Rigoroso: Conjunto de teste inacessível durante decisões estatísticas e balanceamento.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Reprodutibilidade Integral: Sementes fixas e paridade completa entre notebook e script executável.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324642" y="2529916"/>
            <a:ext cx="7843295" cy="3313481"/>
            <a:chOff x="0" y="0"/>
            <a:chExt cx="10457726" cy="4417974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457688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457688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721342" y="0"/>
                  </a:lnTo>
                  <a:cubicBezTo>
                    <a:pt x="10127997" y="0"/>
                    <a:pt x="10457688" y="329692"/>
                    <a:pt x="10457688" y="736346"/>
                  </a:cubicBezTo>
                  <a:lnTo>
                    <a:pt x="10457688" y="3681603"/>
                  </a:lnTo>
                  <a:cubicBezTo>
                    <a:pt x="10457688" y="4088257"/>
                    <a:pt x="10127997" y="4417949"/>
                    <a:pt x="9721342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9700146" y="2749887"/>
            <a:ext cx="7092286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4B8A6"/>
                </a:solidFill>
                <a:latin typeface="Segoe UI Bold"/>
                <a:ea typeface="Segoe UI Bold"/>
                <a:cs typeface="Segoe UI Bold"/>
                <a:sym typeface="Segoe UI Bold"/>
              </a:rPr>
              <a:t>RELEVÂNCIA CLÍNICA &amp; LEGAL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700146" y="3370669"/>
            <a:ext cx="7092286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Discretização com Amparo Jurídico: Jovens (ECA), Adultos (PIA) e Idosos (Estatuto da Pessoa Idosa).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Preservação da Ausência Informativa: Respeito à teoria de Little &amp; Rubin para dados faltantes do SUS.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Fatores Biológicos &amp; Sociais: Captura de comorbidades e vulnerabilidade (rua, álcool, HIV, prisão).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088603" y="5961593"/>
            <a:ext cx="7843295" cy="3313481"/>
            <a:chOff x="0" y="0"/>
            <a:chExt cx="10457726" cy="441797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457688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457688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721342" y="0"/>
                  </a:lnTo>
                  <a:cubicBezTo>
                    <a:pt x="10127997" y="0"/>
                    <a:pt x="10457688" y="329692"/>
                    <a:pt x="10457688" y="736346"/>
                  </a:cubicBezTo>
                  <a:lnTo>
                    <a:pt x="10457688" y="3681603"/>
                  </a:lnTo>
                  <a:cubicBezTo>
                    <a:pt x="10457688" y="4088257"/>
                    <a:pt x="10127997" y="4417949"/>
                    <a:pt x="9721342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464116" y="6181563"/>
            <a:ext cx="7092286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Segoe UI Bold"/>
                <a:ea typeface="Segoe UI Bold"/>
                <a:cs typeface="Segoe UI Bold"/>
                <a:sym typeface="Segoe UI Bold"/>
              </a:rPr>
              <a:t>ESPAÇO OTIMIZADO DE ATRIBUTOS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64116" y="6802345"/>
            <a:ext cx="7092286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Top 22 Preditores Mantidos: Enquadramento perfeito no intervalo recomendado de 20 a 30 variáveis.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Descarte Fundamentado: Eliminação de 4 atributos redundantes ou com menor relevância univariada.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Facilidade de Coleta: Todas as variáveis disponíveis na primeira consulta da atenção primária (UBS).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324642" y="5961593"/>
            <a:ext cx="7843295" cy="3313481"/>
            <a:chOff x="0" y="0"/>
            <a:chExt cx="10457726" cy="441797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457688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457688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721342" y="0"/>
                  </a:lnTo>
                  <a:cubicBezTo>
                    <a:pt x="10127997" y="0"/>
                    <a:pt x="10457688" y="329692"/>
                    <a:pt x="10457688" y="736346"/>
                  </a:cubicBezTo>
                  <a:lnTo>
                    <a:pt x="10457688" y="3681603"/>
                  </a:lnTo>
                  <a:cubicBezTo>
                    <a:pt x="10457688" y="4088257"/>
                    <a:pt x="10127997" y="4417949"/>
                    <a:pt x="9721342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155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9700146" y="6181563"/>
            <a:ext cx="7092286" cy="526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Segoe UI Bold"/>
                <a:ea typeface="Segoe UI Bold"/>
                <a:cs typeface="Segoe UI Bold"/>
                <a:sym typeface="Segoe UI Bold"/>
              </a:rPr>
              <a:t>PRONTIDÃO PARA APRENDIZADO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700146" y="6802345"/>
            <a:ext cx="7092286" cy="2171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Treino Balanceado (48.870 casos): Pronto para algoritmos como XGBoost, LightGBM, Random Forest e Redes Neurais.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Teste Realista (119.864 casos): Avaliação ecológica de Precisão, Recall e Calibração de Risco no SUS.</a:t>
            </a:r>
          </a:p>
          <a:p>
            <a:pPr algn="l">
              <a:lnSpc>
                <a:spcPts val="2160"/>
              </a:lnSpc>
            </a:p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Impacto Sanitário: Potencial real para apoiar equipes de saúde a salvar vidas no combate à tuberculose.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F36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6870231" y="4223595"/>
            <a:ext cx="4561378" cy="923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322"/>
              </a:lnSpc>
            </a:pPr>
            <a:r>
              <a:rPr lang="en-US" sz="6102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DAHZWQ67yjg</dc:identifier>
  <dcterms:modified xsi:type="dcterms:W3CDTF">2011-08-01T06:04:30Z</dcterms:modified>
  <cp:revision>1</cp:revision>
  <dc:title>apresentacao_preprocessamento_tb.pptx</dc:title>
</cp:coreProperties>
</file>