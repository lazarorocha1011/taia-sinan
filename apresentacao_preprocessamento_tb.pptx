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"Olá a todos, saudações ao professor e aos colegas. Meu nome é Kevin Luís Alves de Lima e, juntamente com o meu colega Lázaro Felipe da Rocha Santos, apresento hoje o nosso trabalho final de pré-processamento e engenharia de dados em Inteligência Artificial aplicada à saúde pública.</a:t>
            </a:r>
          </a:p>
          <a:p>
            <a:r>
              <a:t>Nosso estudo tem como foco a predição precoce do desfecho clínico de Cura versus Óbito por Tuberculose Pulmonar, a partir da coorte nacional de notificações do SINAN entre 2014 e 2024.</a:t>
            </a:r>
          </a:p>
          <a:p>
            <a:r>
              <a:t>Construímos um pipeline reprodutível de ponta a ponta, estritamente blindado contra qualquer vazamento de dados, respeitando os marcos legais brasileiros de proteção à infância e ao idoso e fundamentado na teoria estatística clássica.</a:t>
            </a:r>
          </a:p>
          <a:p>
            <a:r>
              <a:t>Nossa apresentação está dividida em duas partes: eu conduzirei a primeira metade, cobrindo o diagnóstico de dados faltantes, a limpeza guiada pelo dicionário e as regras fixas de negócio; e o Lázaro apresentará a segunda parte, abordando o filtro pós-óbito, a discretização etária, a partição estratificada, a seleção univariada e o balanceamento de classes."</a:t>
            </a:r>
          </a:p>
          <a:p/>
          <a:p>
            <a:r>
              <a:t>PONTOS-CHAVE:</a:t>
            </a:r>
          </a:p>
          <a:p>
            <a:r>
              <a:t>• Abertura formal e boas-vindas à banca.</a:t>
            </a:r>
          </a:p>
          <a:p>
            <a:r>
              <a:t>• Apresentação do tema: IA aplicada à vigilância em saúde (SINAN/SUS 2014-2024).</a:t>
            </a:r>
          </a:p>
          <a:p>
            <a:r>
              <a:t>• Objetivo: Predição precoce de Cura vs Óbito por TB pulmonar sem data leakage.</a:t>
            </a:r>
          </a:p>
          <a:p>
            <a:r>
              <a:t>• Divisão formal: Kevin (Slides 1 a 9) e Lázaro (Slides 10 a 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"Para compreender o impacto deste trabalho, precisamos situar a gravidade da tuberculose. Embora o Brasil ofereça diagnóstico e tratamento cem por cento gratuitos e universais pelo SUS, a doença ceifa milhares de vidas todos os anos, atingindo de forma desproporcional populações em extrema vulnerabilidade social.</a:t>
            </a:r>
          </a:p>
          <a:p>
            <a:r>
              <a:t>O nosso objetivo central não é apenas treinar um algoritmo, mas construir uma base de modelagem de alta fidelidade ecológica capaz de apoiar a tomada de decisão médica no momento exato em que o paciente entra no sistema de saúde. Queremos antecipar, na atenção primária, quem tem risco elevado de óbito para priorizar visitas domiciliares e o tratamento supervisionado.</a:t>
            </a:r>
          </a:p>
          <a:p>
            <a:r>
              <a:t>Contudo, trabalhar com dados do SINAN impõe um imenso desafio técnico: são dados secundários preenchidos por milhares de municípios, contendo campos administrativos, dados faltantes e eventos registrados após o desfecho que poderiam invalidar qualquer modelo se não fossem tratados adequadamente."</a:t>
            </a:r>
          </a:p>
          <a:p/>
          <a:p>
            <a:r>
              <a:t>PONTOS-CHAVE:</a:t>
            </a:r>
          </a:p>
          <a:p>
            <a:r>
              <a:t>• Relevância epidemiológica: TB é emergência de saúde pública persistente no Brasil.</a:t>
            </a:r>
          </a:p>
          <a:p>
            <a:r>
              <a:t>• Propósito prático: IA no ponto de cuidado (atenção primária / UBS).</a:t>
            </a:r>
          </a:p>
          <a:p>
            <a:r>
              <a:t>• Desafio metodológico: dados secundários descentralizados com risco de target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"Para garantir total robustez técnica, estruturamos nosso trabalho em um fluxo de seis etapas consecutivas, cobrindo o que foi desenvolvido ao longo de todas as atividades da disciplina.</a:t>
            </a:r>
          </a:p>
          <a:p>
            <a:r>
              <a:t>Partimos de uma base massiva de 884 mil casos e 108 colunas. Na primeira etapa, analisamos a completude e os valores faltantes. Na segunda, realizamos a triagem pelo dicionário de dados. Na terceira, consolidamos o desfecho binário e aplicamos quatro regras fixas de exclusão.</a:t>
            </a:r>
          </a:p>
          <a:p>
            <a:r>
              <a:t>A partir da quarta etapa, que será detalhada pelo Lázaro, eliminamos o vazamento do pós-óbito, discretizamos a idade em marcos legais, separamos treino e teste de forma estratificada e cega, ranqueamos os preditores por métricas de efeito e balanceamos o treino por subamostragem aleatória. Vamos detalhar agora como cada etapa foi executada."</a:t>
            </a:r>
          </a:p>
          <a:p/>
          <a:p>
            <a:r>
              <a:t>PONTOS-CHAVE:</a:t>
            </a:r>
          </a:p>
          <a:p>
            <a:r>
              <a:t>• Visão panorâmica das 6 etapas exigidas no pré-processamento.</a:t>
            </a:r>
          </a:p>
          <a:p>
            <a:r>
              <a:t>• Alinhamento estrito com as Atividades 1, 2, 3 e 4.</a:t>
            </a:r>
          </a:p>
          <a:p>
            <a:r>
              <a:t>• Progressão lógica: do diagnóstico à preparação para algoritmos supervisionados.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"Na primeira atividade, o foco foi mensurar a qualidade cadastral dos dados. Ao carregar o arquivo CSV, utilizamos o parâmetro keep_default_na=False do pandas. Por que isso foi fundamental? Porque no SINAN os campos em branco não vêm marcados como NaN tradicional; eles entram como strings vazias. Se fizéssemos uma checagem simples de nulos, mascararíamos a ausência de preenchimento.</a:t>
            </a:r>
          </a:p>
          <a:p>
            <a:r>
              <a:t>Identificamos exatamente 4 variáveis com 100,00% de dados ausentes (CS_FLXRET, FLXRECEBI, DT_TRANSRM e IDADEminutos) e outras 7 variáveis com mais de 97% a 99% de incompletude, totalizando 11 colunas no topo do diagnóstico cadastral. Além disso, 38 colunas na base original superavam o corte de 60% de ausência.</a:t>
            </a:r>
          </a:p>
          <a:p>
            <a:r>
              <a:t>Essa catalogação inicial permitiu ranquear rigorosamente todas as 108 variáveis e forneceu o substrato empírico para as regras de corte subsequentes."</a:t>
            </a:r>
          </a:p>
          <a:p/>
          <a:p>
            <a:r>
              <a:t>PONTOS-CHAVE:</a:t>
            </a:r>
          </a:p>
          <a:p>
            <a:r>
              <a:t>• Uso obrigatório de keep_default_na=False para capturar strings vazias.</a:t>
            </a:r>
          </a:p>
          <a:p>
            <a:r>
              <a:t>• Exatamente 4 colunas 100% vazias, 8 com &gt;99% e 11 com &gt;97% de dados faltantes.</a:t>
            </a:r>
          </a:p>
          <a:p>
            <a:r>
              <a:t>• Fundamentação em Little &amp; Rubin (2019): ausência como sinal clínico informativo.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"Na Atividade 2, confrontamos a base com o Dicionário de Dados oficial do SINAN. Identificamos que diversas colunas eram meros identificadores de sistema ou metadados de fluxo hospitalar sem significado prognóstico, como códigos de agravo e chaves operacionais.</a:t>
            </a:r>
          </a:p>
          <a:p>
            <a:r>
              <a:t>Estabelecemos o limiar de corte de 60% de incompletude para descarte de atributos com preenchimento precário na série histórica. Nessa fase preliminar, removemos 49 colunas, retendo 58 atributos preditores candidatos e isolando estritamente a variável SITUA_ENCE como alvo do estudo.</a:t>
            </a:r>
          </a:p>
          <a:p>
            <a:r>
              <a:t>Foi um passo importante de depuração inicial, embora tenhamos percebido a necessidade de resgatar as 108 colunas brutas do backup na Atividade 3 para assegurar a permanência de variáveis sociais determinantes e aplicar regras fixas definitivas."</a:t>
            </a:r>
          </a:p>
          <a:p/>
          <a:p>
            <a:r>
              <a:t>PONTOS-CHAVE:</a:t>
            </a:r>
          </a:p>
          <a:p>
            <a:r>
              <a:t>• Triagem baseada no Dicionário do SINAN e corte de 60% de faltantes.</a:t>
            </a:r>
          </a:p>
          <a:p>
            <a:r>
              <a:t>• Balanço: 108 $_x000D_ightarrow$ 49 removidas $_x000D_ightarrow$ 58 preditoras + 1 alvo isolado.</a:t>
            </a:r>
          </a:p>
          <a:p>
            <a:r>
              <a:t>• Justificativa da transição para a Parte II oficial com resgate do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"Ao avançarmos para a Atividade 3, adotamos uma postura metodológica rigorosa: resgatamos integralmente as 108 colunas originais do backup para evitar que decisões preliminares da Atividade 2 descartassem prematuramente variáveis sociais importantes, como a população em situação de rua.</a:t>
            </a:r>
          </a:p>
          <a:p>
            <a:r>
              <a:t>A partir desse resgate, executamos a única filtragem de linhas permitida nas regras de negócio: a definição da nossa coorte analítica. Selecionamos exclusivamente os pacientes que tiveram desfecho definitivo de Cura ou Óbito por Tuberculose.</a:t>
            </a:r>
          </a:p>
          <a:p>
            <a:r>
              <a:t>Pacientes com abandono, transferência ou falecidos por outras causas foram removidos, totalizando 280 mil exclusões.</a:t>
            </a:r>
          </a:p>
          <a:p>
            <a:r>
              <a:t>Consolidamos assim uma coorte de 603.413 registros válidos, mapeando Cura como 0 e Óbito por TB como 1. A coluna de encerramento original foi separada e jamais utilizada como preditor."</a:t>
            </a:r>
          </a:p>
          <a:p/>
          <a:p>
            <a:r>
              <a:t>PONTOS-CHAVE:</a:t>
            </a:r>
          </a:p>
          <a:p>
            <a:r>
              <a:t>• Resgate das 108 colunas originais a partir do backup bruto.</a:t>
            </a:r>
          </a:p>
          <a:p>
            <a:r>
              <a:t>• Restrição aos desfechos Cura (0) e Óbito por TB (1): 603.413 registros retidos (68,24%).</a:t>
            </a:r>
          </a:p>
          <a:p>
            <a:r>
              <a:t>• Remoção de 280.808 casos com desfechos concorrentes ou não informativos.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"Em seguida, implementamos a engenharia de variáveis no momento do diagnóstico. O SINAN armazena a idade de forma codificada em quatro dígitos, onde o primeiro indica a unidade de tempo. Desenvolvemos um decodificador que converteu horas, dias e meses de recém-nascidos para zero anos e preservou centenários legítimos, evitando o truncamento da coluna bruta.</a:t>
            </a:r>
          </a:p>
          <a:p>
            <a:r>
              <a:t>Extraímos o ano de diagnóstico e agrupamos os mais de 5.200 municípios brasileiros em Unidades da Federação e Macrorregiões, eliminando problemas de alta cardinalidade.</a:t>
            </a:r>
          </a:p>
          <a:p>
            <a:r>
              <a:t>Além disso, transformamos códigos impossíveis e sentinelas da variável de contatos examinados em valores nulos.</a:t>
            </a:r>
          </a:p>
          <a:p>
            <a:r>
              <a:t>Respondendo pontualmente às diretrizes docentes sobre a semântica do 'Não se aplica', constatamos que em gestantes a ausência decorria de a maioria da coorte ser masculina, o que ultrapassava 74% de perda de informação, justificando seu descarte; já na baciloscopia de escarro, a impossibilidade de expectorar foi unificada como 'Faltante', preservando o exame no modelo."</a:t>
            </a:r>
          </a:p>
          <a:p/>
          <a:p>
            <a:r>
              <a:t>PONTOS-CHAVE:</a:t>
            </a:r>
          </a:p>
          <a:p>
            <a:r>
              <a:t>• Decodificação precisa de NU_IDADE_N corrigindo truncamento de centenários.</a:t>
            </a:r>
          </a:p>
          <a:p>
            <a:r>
              <a:t>• Agregação territorial de 5.200 municípios em SG_UF (27) e REGIAO (5).</a:t>
            </a:r>
          </a:p>
          <a:p>
            <a:r>
              <a:t>• Tratamento contextual do 'Não se aplica': CS_GESTANT descartada (74,67%) vs BACILOSC_E unificada em 'Faltante'.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1 (KEVIN LUÍS ALVES DE LIMA):</a:t>
            </a:r>
          </a:p>
          <a:p/>
          <a:p>
            <a:r>
              <a:t>"Para filtrar as variáveis que realmente importam sem correr risco de overfitting ou leakage antes de qualquer partição, aplicamos quatro regras fixas de negócio.</a:t>
            </a:r>
          </a:p>
          <a:p>
            <a:r>
              <a:t>Primeiro: descartamos colunas com mais de 99% de valores constantes. Segundo: eliminamos variáveis com mais de 60% de incompletude, o que incluiu drogas específicas do esquema terapêutico e culturas com altíssima taxa de ausência. Terceiro: removemos atributos redundantes já englobados pelas variáveis derivadas. E quarto: excluímos categoricamente qualquer dado com vazamento temporal, como baciloscopias de acompanhamento feitas após o início do tratamento e datas de encerramento.</a:t>
            </a:r>
          </a:p>
          <a:p>
            <a:r>
              <a:t>Ao final desse processo, documentado na íntegra no catálogo de 108 colunas que geramos em CSV, chegamos a exatamente 26 variáveis preditoras candidatas e uma variável de desfecho. Cumprimos assim a meta de dimensionar a base entre 20 e 30 atributos.</a:t>
            </a:r>
          </a:p>
          <a:p>
            <a:r>
              <a:t>Passo agora a palavra ao Lázaro, que apresentará a modelagem, o isolamento de treino e teste, a seleção univariada e os resultados de balanceamento."</a:t>
            </a:r>
          </a:p>
          <a:p/>
          <a:p>
            <a:r>
              <a:t>PONTOS-CHAVE:</a:t>
            </a:r>
          </a:p>
          <a:p>
            <a:r>
              <a:t>• 4 regras fixas: constantes (&gt;99%), faltantes (&gt;60%), redundantes e vazamento temporal.</a:t>
            </a:r>
          </a:p>
          <a:p>
            <a:r>
              <a:t>• 108 colunas originais $_x000D_ightarrow$ 84 descartadas $_x000D_ightarrow$ 24 mantidas + 2 derivadas = 26 preditoras.</a:t>
            </a:r>
          </a:p>
          <a:p>
            <a:r>
              <a:t>• Transição de fala para o Integrante 2 (Lázaro).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TRANSIÇÃO FORMAL (KEVIN $\rightarrow$ LÁZARO):</a:t>
            </a:r>
          </a:p>
          <a:p/>
          <a:p>
            <a:r>
              <a:t>[KEVIN]: "...Passo agora a palavra ao Lázaro, que apresentará a modelagem, o isolamento de treino e teste, a seleção univariada e os resultados de balanceamento."</a:t>
            </a:r>
          </a:p>
          <a:p/>
          <a:p>
            <a:r>
              <a:t>[LÁZARO]: "Obrigado, Kevin. Olá a todos, sou o Lázaro e darei continuidade à nossa apresentação.</a:t>
            </a:r>
          </a:p>
          <a:p>
            <a:r>
              <a:t>Até aqui, temos um conjunto estruturado com 26 atributos preditores candidatos na coorte de 603 mil casos.</a:t>
            </a:r>
          </a:p>
          <a:p>
            <a:r>
              <a:t>A partir deste ponto, entramos na modelagem preditiva estrita da Atividade 4. Minha responsabilidade é demonstrar como blindamos nosso modelo contra qualquer forma de vazamento de dados, como fundamentamos a faixa etária nas leis brasileiras, como separamos treino e teste de forma absolutamente cega, como selecionamos os 22 melhores preditores e como balanceamos as classes para treinamento supervisionado.</a:t>
            </a:r>
          </a:p>
          <a:p>
            <a:r>
              <a:t>Vamos iniciar pela correção crucial do vazamento pós-óbito."</a:t>
            </a:r>
          </a:p>
          <a:p/>
          <a:p>
            <a:r>
              <a:t>PONTOS-CHAVE:</a:t>
            </a:r>
          </a:p>
          <a:p>
            <a:r>
              <a:t>• Transição de fala explícita e fluida entre os dois integrantes.</a:t>
            </a:r>
          </a:p>
          <a:p>
            <a:r>
              <a:t>• Recapitulação sintética das conquistas da Parte I.</a:t>
            </a:r>
          </a:p>
          <a:p>
            <a:r>
              <a:t>• Apresentação do roteiro dos slides 10 a 18 por Lázaro.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"Ao inspecionarmos minuciosamente a variável TRATAMENTO, que discrimina o tipo de entrada do paciente no sistema, fizemos uma descoberta crítica: existiam 4.095 pacientes registrados com o rótulo 'Pós-óbito'.</a:t>
            </a:r>
          </a:p>
          <a:p>
            <a:r>
              <a:t>Ao cruzar essa informação com o desfecho, constatamos que 4.089 desses pacientes haviam falecido de tuberculose, o que equivale a estarrecedores 99,85% de óbitos na entrada.</a:t>
            </a:r>
          </a:p>
          <a:p>
            <a:r>
              <a:t>Essa notificação é feita quando o indivíduo falece em domicílio ou no hospital sem diagnóstico em vida, sendo cadastrado tardiamente por laudo de necropsia do SVO ou pela Declaração de Óbito.</a:t>
            </a:r>
          </a:p>
          <a:p>
            <a:r>
              <a:t>Manter esses pacientes em um modelo que se propõe a prever o prognóstico de um paciente vivo na primeira consulta representaria um caso gravíssimo de vazamento de alvo por causalidade reversa. O algoritmo simplesmente aprenderia que ter entrada 'pós-óbito' significa morrer.</a:t>
            </a:r>
          </a:p>
          <a:p>
            <a:r>
              <a:t>Removemos esses 4.095 casos e mapeamos o sentinela 'Não sabe' para faltante, reduzindo a coorte para 599.318 casos clinicamente legítimos, cuja taxa de letalidade real é de 5,10%."</a:t>
            </a:r>
          </a:p>
          <a:p/>
          <a:p>
            <a:r>
              <a:t>PONTOS-CHAVE:</a:t>
            </a:r>
          </a:p>
          <a:p>
            <a:r>
              <a:t>• Identificação forense de 4.095 casos pós-óbito (99,85% óbitos por TB).</a:t>
            </a:r>
          </a:p>
          <a:p>
            <a:r>
              <a:t>• Eliminação de target leakage por causalidade reversa (notificações via SVO/DO).</a:t>
            </a:r>
          </a:p>
          <a:p>
            <a:r>
              <a:t>• Coorte final consolidada para modelagem: 599.318 registros (letalidade real de 5,10%).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"A idade cronológica contínua apresenta relação fortemente não linear com o óbito por TB. Por essa razão, discretizamos a idade em três faixas amparadas estritamente nas leis brasileiras e nas convenções internacionais.</a:t>
            </a:r>
          </a:p>
          <a:p>
            <a:r>
              <a:t>A categoria 'Jovens', de 0 a 19 anos, fundamenta-se no Estatuto da Criança e do Adolescente — a Lei 8.069 de 1990 —, no Estatuto da Juventude e nos padrões da OMS e do IBGE.</a:t>
            </a:r>
          </a:p>
          <a:p>
            <a:r>
              <a:t>A faixa de 'Adultos', de 20 a 59 anos, segue a delimitação da População em Idade Ativa adotada pelo Ministério da Saúde.</a:t>
            </a:r>
          </a:p>
          <a:p>
            <a:r>
              <a:t>E a faixa de 'Idosos', com 60 anos ou mais, respalda-se no Estatuto da Pessoa Idosa — Lei 10.741 de 2003.</a:t>
            </a:r>
          </a:p>
          <a:p>
            <a:r>
              <a:t>Para os 144 casos em que a idade não constava — exatamente 0,03% do treino —, recusamos veementemente a imputação determinística por média ou mediana. Segundo a teoria estatística clássica de Little e Rubin, a omissão de dados cadastrais no SUS representa ausência informativa, associada a moradores de rua e pacientes admitidos em choque séptico. Imputar uma mediana mascararia essa vulnerabilidade e atenuaria a variância amostral. Adotamos o missing-category approach, mantendo a categoria 'Faltante', que é perfeitamente interpretada por algoritmos de aprendizado de máquina."</a:t>
            </a:r>
          </a:p>
          <a:p/>
          <a:p>
            <a:r>
              <a:t>PONTOS-CHAVE:</a:t>
            </a:r>
          </a:p>
          <a:p>
            <a:r>
              <a:t>• Faixas legais: ECA (Lei 8.069/90), População em Idade Ativa (IBGE), Estatuto do Idoso (Lei 10.741/03).</a:t>
            </a:r>
          </a:p>
          <a:p>
            <a:r>
              <a:t>• Teoria de Little &amp; Rubin (2019): ausência informativa (MAR/MNAR) preservada em 'Faltante' (144 casos).</a:t>
            </a:r>
          </a:p>
          <a:p>
            <a:r>
              <a:t>• Rejeição de imputação por média/mediana para evitar atenuação artificial da variância.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"Com a base devidamente limpa, realizamos a separação entre treino e teste. Dividimos os 599 mil casos em 80% para treino e 20% para teste, utilizando amostragem aleatória estratificada pela variável alvo com a semente reprodutível 42.</a:t>
            </a:r>
          </a:p>
          <a:p>
            <a:r>
              <a:t>A estratificação garantiu que tanto o treino — com 479 mil registros — quanto o teste — com quase 120 mil — preservassem rigorosamente a proporção natural de 94,90% de cura e 5,10% de óbito por TB.</a:t>
            </a:r>
          </a:p>
          <a:p>
            <a:r>
              <a:t>Aqui entra o princípio inegociável do isolamento absoluto do teste: o conjunto de teste jamais foi consultado. Por exemplo, para a única variável numérica contínua, que é o número de contatos examinados, calculamos a mediana estritamente sobre as instâncias de treino, que resultou em 1,0 contato. Fixamos esse hiperparâmetro e o aplicamos de forma cega no teste. Nenhuma métrica de associação, ranqueamento ou balanceamento tocou o conjunto de teste."</a:t>
            </a:r>
          </a:p>
          <a:p/>
          <a:p>
            <a:r>
              <a:t>PONTOS-CHAVE:</a:t>
            </a:r>
          </a:p>
          <a:p>
            <a:r>
              <a:t>• Partição estratificada 80/20: Treino (479.454 casos) e Teste (119.864 casos), ambos com 5,10% de óbito.</a:t>
            </a:r>
          </a:p>
          <a:p>
            <a:r>
              <a:t>• Isolamento absoluto do teste (strict hold-out): mediana calculada no treino (1,0) aplicada cegamente.</a:t>
            </a:r>
          </a:p>
          <a:p>
            <a:r>
              <a:t>• Justificativa da estratificada sobre a temporal (prevenção de viés pandêmico).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"Na Etapa 5, executamos a seleção univariada de atributos baseada exclusivamente nos 479 mil registros de treino.</a:t>
            </a:r>
          </a:p>
          <a:p>
            <a:r>
              <a:t>Um ponto metodológico crucial: em bases massivas como essa, testes de significância assintótica sofrem com poder estatístico próximo a 100%. Todas as 26 variáveis apresentaram p-valores infinitesimais, menores que dez elevado a menos 34. Portanto, o p-valor é inútil para ranquear a importância clínica real.</a:t>
            </a:r>
          </a:p>
          <a:p>
            <a:r>
              <a:t>Empregamos como métrica o V de Cramér para as 25 variáveis categóricas e a correlação ponto-bisserial para contatos examinados.</a:t>
            </a:r>
          </a:p>
          <a:p>
            <a:r>
              <a:t>Como resultado, retivemos os 22 melhores preditores com V maior ou igual a 0,0325, situando-se perfeitamente no intervalo requisitado de 20 a 30 variáveis.</a:t>
            </a:r>
          </a:p>
          <a:p>
            <a:r>
              <a:t>Descartamos apenas quatro variáveis fracas: a baciloscopia de escarro inicial, que possuía redundância com o critério confirmatório; população de profissionais de saúde e imigrantes, que tinham frequência irrisória; e raça/cor, que obteve a menor associação univariada independente com o óbito."</a:t>
            </a:r>
          </a:p>
          <a:p/>
          <a:p>
            <a:r>
              <a:t>PONTOS-CHAVE:</a:t>
            </a:r>
          </a:p>
          <a:p>
            <a:r>
              <a:t>• Rejeição do p-valor para ranqueamento em Big Data (p &lt; 10^(-34) para todas).</a:t>
            </a:r>
          </a:p>
          <a:p>
            <a:r>
              <a:t>• Ranqueamento por V de Cramér e ponto-bisserial restrito ao treino.</a:t>
            </a:r>
          </a:p>
          <a:p>
            <a:r>
              <a:t>• Seleção do Top 22 mantidos (V &gt;= 0,0325) e 4 descartados com justificativa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"Ao chegarmos ao balanceamento de classes na Etapa 6, confrontamo-nos com uma escolha metodológica decisiva: NearMiss versus Random Undersampling.</a:t>
            </a:r>
          </a:p>
          <a:p>
            <a:r>
              <a:t>Rejeitamos categoricamente o NearMiss por duas razões científicas. Primeiro, por inviabilidade matemática: em uma partição com 455 mil curas e 24 mil óbitos, o cálculo de vizinhos mais próximos exige mais de 11 bilhões de operações euclidianas, provocando estouro de memória e tempo de execução na escala de dezenas de horas. Segundo, por distorção clínica: o NearMiss escolhe instâncias na fronteira de decisão. Em dados do SUS, isso significa selecionar casos anômalos ou subnotificados, gerando sobreajuste severo.</a:t>
            </a:r>
          </a:p>
          <a:p>
            <a:r>
              <a:t>Optamos pelo Random Undersampling 1:1 nativo. Ele opera em complexidade linear, preserva a diversidade geográfica dos curados e deixa o treino com um volume robusto de 48.870 casos perfeitamente equilibrados.</a:t>
            </a:r>
          </a:p>
          <a:p>
            <a:r>
              <a:t>E, mais importante: o teste permaneceu com seus 5,10% de óbitos originais, porque avaliar métricas de precisão e calibração de risco em um teste balanceado artificialmente destruiria a validade clínica do modelo."</a:t>
            </a:r>
          </a:p>
          <a:p/>
          <a:p>
            <a:r>
              <a:t>PONTOS-CHAVE:</a:t>
            </a:r>
          </a:p>
          <a:p>
            <a:r>
              <a:t>• Rejeição matemática e computacional do NearMiss (11 bilhões de operações, risco de OOM).</a:t>
            </a:r>
          </a:p>
          <a:p>
            <a:r>
              <a:t>• Virtudes do RUS 1:1: complexidade O(N), preservação da representatividade ecológica e 48.870 casos.</a:t>
            </a:r>
          </a:p>
          <a:p>
            <a:r>
              <a:t>• Preservação absoluta do teste desbalanceado para validação realista.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"Esta tabela sintetiza com exatidão matemática o resultado do balanceamento, exportado para o arquivo tabela_proporcoes_balanceamento.csv.</a:t>
            </a:r>
          </a:p>
          <a:p>
            <a:r>
              <a:t>Na primeira linha, vemos o treino antes do balanceamento, com seus 479 mil registros refletindo a realidade de 5,10% de óbitos.</a:t>
            </a:r>
          </a:p>
          <a:p>
            <a:r>
              <a:t>Na segunda linha, temos o conjunto de treino balanceado após o undersampling: exatamente 24.435 curas sorteadas aleatoriamente e 24.435 óbitos preservados, totalizando 48.870 observações divididas em 50% para cada classe.</a:t>
            </a:r>
          </a:p>
          <a:p>
            <a:r>
              <a:t>E na terceira linha, confirmamos a integridade absoluta do nosso conjunto de teste: 119.864 pacientes avaliados sob a taxa epidemiológica original de 5,10%.</a:t>
            </a:r>
          </a:p>
          <a:p>
            <a:r>
              <a:t>Essa estrutura garante ao mesmo tempo capacidade de aprendizado equilibrada aos algoritmos e uma avaliação final de extrema fidelidade ao ambiente real do SUS."</a:t>
            </a:r>
          </a:p>
          <a:p/>
          <a:p>
            <a:r>
              <a:t>PONTOS-CHAVE:</a:t>
            </a:r>
          </a:p>
          <a:p>
            <a:r>
              <a:t>• Apresentação dos dados exatos de tabela_proporcoes_balanceamento.csv.</a:t>
            </a:r>
          </a:p>
          <a:p>
            <a:r>
              <a:t>• Treino balanceado 1:1 com 48.870 instâncias (24.435 curas e 24.435 óbitos).</a:t>
            </a:r>
          </a:p>
          <a:p>
            <a:r>
              <a:t>• Teste isolado com 119.864 instâncias e proporção real preservada de 5,10%.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"Para a análise gráfica exigida no Requisito 5, selecionamos o preditor clinicamente mais expressivo do nosso modelo: a FAIXA_ETARIA, que obteve a segunda maior associação geral e a primeira entre fatores biológicos, com V de Cramér de 0,1339 e qui-quadrado de 8.594,40.</a:t>
            </a:r>
          </a:p>
          <a:p>
            <a:r>
              <a:t>O gráfico de barras foi gerado estritamente sobre o conjunto de treino pré-balanceamento com 479 mil instâncias. Por que pré-balanceamento? Porque se o gerássemos sobre o treino balanceado 1:1, a letalidade média seria artificialmente distorcida para 50%, destruindo o perfil epidemiológico real.</a:t>
            </a:r>
          </a:p>
          <a:p>
            <a:r>
              <a:t>O gráfico revela um gradiente biológico monotônico impressionante: enquanto jovens de até 19 anos apresentam letalidade de 1,28%, a taxa triplica entre adultos, alcançando 4,07%, e atinge estarrecedores 12,11% entre os idosos com 60 anos ou mais.</a:t>
            </a:r>
          </a:p>
          <a:p>
            <a:r>
              <a:t>O risco de óbito em idosos é quase dez vezes superior ao de jovens, reflexo direto da imunossenescência e da sobreposição de comorbidades crônicas como diabetes e cardiopatias."</a:t>
            </a:r>
          </a:p>
          <a:p/>
          <a:p>
            <a:r>
              <a:t>PONTOS-CHAVE:</a:t>
            </a:r>
          </a:p>
          <a:p>
            <a:r>
              <a:t>• Exibição em alta resolução de grafico_desfecho_faixa_etaria.png.</a:t>
            </a:r>
          </a:p>
          <a:p>
            <a:r>
              <a:t>• Gradiente de risco: Jovens 1,28% $_x000D_ightarrow$ Adultos 4,07% $_x000D_ightarrow$ Idosos 12,11% (9,46x maior).</a:t>
            </a:r>
          </a:p>
          <a:p>
            <a:r>
              <a:t>• Justificativa metodológica da geração sobre o treino pré-balanceamento.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INTEGRANTE 2 (LÁZARO FELIPE DA ROCHA SANTOS):</a:t>
            </a:r>
          </a:p>
          <a:p/>
          <a:p>
            <a:r>
              <a:t>"Conduzimos uma auditoria analítica completa sobre todo o código e documentação produzidos pela equipe. O resultado é extremamente satisfatório: todas as exigências das Atividades 1, 2, 3 e 4 foram rigorosamente atendidas.</a:t>
            </a:r>
          </a:p>
          <a:p>
            <a:r>
              <a:t>A contagem de faltantes com justificativa técnica foi cumprida na íntegra; a limpeza orientada pelo dicionário com preservação do desfecho foi demonstrada; as regras fixas e a engenharia de atributos foram implementadas sem contaminação do teste; e, na Atividade 4, a eliminação do vazamento de pós-óbito, a fundamentação legal da idade, a divisão estratificada 80/20, a seleção dos 22 preditores e o balanceamento por undersampling foram formalmente executados.</a:t>
            </a:r>
          </a:p>
          <a:p>
            <a:r>
              <a:t>Como apontamento de boas práticas de auditoria, registramos que o script taia.py executa com perfeição de ponta a ponta e gerou todos os artefatos, mas recomendamos que o notebook TAIA (2).ipynb seja re-executado integralmente no ambiente do Colab antes da entrega para que os avaliadores visualizem os outputs renderizados diretamente no JSON das células 22 a 47."</a:t>
            </a:r>
          </a:p>
          <a:p/>
          <a:p>
            <a:r>
              <a:t>PONTOS-CHAVE:</a:t>
            </a:r>
          </a:p>
          <a:p>
            <a:r>
              <a:t>• Conformidade substancial comprovada em todas as 4 atividades.</a:t>
            </a:r>
          </a:p>
          <a:p>
            <a:r>
              <a:t>• Validação automatizada: 27 de 27 testes aprovados na suíte E2E.</a:t>
            </a:r>
          </a:p>
          <a:p>
            <a:r>
              <a:t>• Transparência: documentação das 6 pendências e recomendação de rodar 'Run All' no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DE FALA — ENCERRAMENTO CONJUNTO (LÁZARO &amp; KEVIN):</a:t>
            </a:r>
          </a:p>
          <a:p/>
          <a:p>
            <a:r>
              <a:t>[LÁZARO]: "Para concluir: entregamos uma base de modelagem preditiva que transcende os requisitos acadêmicos da disciplina e atinge padrões de excelência em ciência de dados biomédica. Eliminamos o vazamento de alvo que inflaria falsamente a acurácia, respeitamos os marcos legais brasileiros de proteção à criança e ao idoso, selecionamos preditores viáveis na rotina do posto de saúde e preservamos a integridade ecológica do teste.</a:t>
            </a:r>
          </a:p>
          <a:p>
            <a:r>
              <a:t>A base de treino balanceada está pronta para o treinamento de modelos robustos, como Gradient Boosting, Random Forest e Redes Neurais."</a:t>
            </a:r>
          </a:p>
          <a:p/>
          <a:p>
            <a:r>
              <a:t>[KEVIN]: "Temos a plena convicção de que este trabalho estabelece uma fundação metodológica sólida para que algoritmos de Inteligência Artificial possam atuar como ferramenta real de apoio à decisão clínica no SUS, auxiliando a salvar vidas no enfrentamento da tuberculose pulmonar."</a:t>
            </a:r>
          </a:p>
          <a:p/>
          <a:p>
            <a:r>
              <a:t>[AMBOS]: "Muito obrigado a todos pela atenção!"</a:t>
            </a:r>
          </a:p>
          <a:p/>
          <a:p>
            <a:r>
              <a:t>PONTOS-CHAVE:</a:t>
            </a:r>
          </a:p>
          <a:p>
            <a:r>
              <a:t>• Síntese dos 4 pilares: Blindagem metodológica, Relevância legal, 22 atributos e Prontidão para IA.</a:t>
            </a:r>
          </a:p>
          <a:p>
            <a:r>
              <a:t>• Fala de encerramento em dueto (Lázaro e Kevin).</a:t>
            </a:r>
          </a:p>
          <a:p>
            <a:r>
              <a:t>• Agradecimento final à banca e ao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05840"/>
            <a:ext cx="9692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PROJETO AVALIATIVO FINAL • CIÊNCIA DE DADOS &amp; INTELIGÊNCIA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Pipeline de Pré-Processamento e Preparação de Dados para Predição de Desfecho em Tuberculose Pulmonar no SINAN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88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Modelagem Preditiva Livre de Vazamento de Dados (Data Leakage) na Coorte Nacional do SUS (2014–2024)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520440"/>
            <a:ext cx="4389120" cy="685800"/>
          </a:xfrm>
          <a:prstGeom prst="roundRect">
            <a:avLst/>
          </a:prstGeom>
          <a:solidFill>
            <a:srgbClr val="243248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👤 Kevin Luís Alves de Lima</a:t>
            </a:r>
          </a:p>
          <a:p>
            <a:pPr>
              <a:defRPr sz="1000">
                <a:solidFill>
                  <a:srgbClr val="0EA5E9"/>
                </a:solidFill>
                <a:latin typeface="Calibri"/>
              </a:defRPr>
            </a:pPr>
            <a:r>
              <a:t>Apresentador da Parte I (Slides 1 a 9) • Diagnóstico &amp; Regras Fixas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520440"/>
            <a:ext cx="4389120" cy="685800"/>
          </a:xfrm>
          <a:prstGeom prst="roundRect">
            <a:avLst/>
          </a:prstGeom>
          <a:solidFill>
            <a:srgbClr val="243248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Segoe UI"/>
              </a:defRPr>
            </a:pPr>
            <a:r>
              <a:t>👤 Lázaro Felipe da Rocha Santos</a:t>
            </a:r>
          </a:p>
          <a:p>
            <a:pPr>
              <a:defRPr sz="1000">
                <a:solidFill>
                  <a:srgbClr val="14B8A6"/>
                </a:solidFill>
                <a:latin typeface="Calibri"/>
              </a:defRPr>
            </a:pPr>
            <a:r>
              <a:t>Apresentador da Parte II (Slides 10 a 18) • Modelagem, Seleção &amp; RUS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434840"/>
            <a:ext cx="214884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Calibri"/>
              </a:defRPr>
            </a:pPr>
            <a:r>
              <a:t>Base SINAN / DataSUS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434840"/>
            <a:ext cx="214884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4B8A6"/>
                </a:solidFill>
                <a:latin typeface="Calibri"/>
              </a:defRPr>
            </a:pPr>
            <a:r>
              <a:t>884.221 Notificações Brutas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34840"/>
            <a:ext cx="214884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Série Histórica 2014–2024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4434840"/>
            <a:ext cx="214884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Zero Data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2356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Universidade Federal / Departamento de Ciência da Computação • Tópicos Avançados em Inteligência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CONTEXTUALIZAÇÃO CLÍNICA • EPIDEMIOLOGIA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 Desafio da Tuberculose Pulmonar no 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Da emergência sanitária à modelagem preditiva no ponto de atendimento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Alves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2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MAGNITUDE DA DOENÇA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Impacto Global e Nacional: Entre as doenças infecciosas mais letais do mundo causadas por agente único.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Desigualdade Social: Acomete desproporcionalmente populações vulneráveis (extrema pobreza, rua, presídios).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Mortalidade Persistente: Letalidade real de 5,10% na coorte tratada, resultando em milhares de mortes evitáveis ao ano no Brasil.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PROPÓSITO CLÍNICO DA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Predição no Ponto de Cuidado: Identificar risco de óbito no momento da notificação inicial (UBS / Posto de Saúde).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Ação Preventiva Imediata: Alertar equipes de Saúde da Família para priorizar visitas e suporte clínico intensivo.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Adesão Terapêutica: Direcionamento do Tratamento Diretamente Observado (TDO) para casos de alto risco prognóstico.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DESAFIO DOS DADOS (SINAN)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Heterogeneidade Municipal: Mais de 5.200 municípios alimentando dados descentralizados com padrões variáveis.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Ruídos &amp; Dados Faltantes: Campos em branco, códigos sentinela e omissões informativas que exigem tratamento.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Calibri"/>
              </a:defRPr>
            </a:pPr>
            <a:r>
              <a:t>• Risco Severo de Leakage: Informações retrospectivas pós-admissão que podem invalidar modelos se não forem expurgadas.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METODOLOGIA • VISÃO SISTÊMICA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Pipeline de Pré-Processamento em 6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Fluxo analítico unificado cobrindo desde a exploração inicial até a modelagem supervisionada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Alves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3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013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1. Diagnóstico de Faltantes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Atividade 1 • Faltantes &amp; Diagnóstico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Leitura de 884k registros com keep_default_na=False.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Contagem absoluta e % de nulos/vazios.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Identificação de 4 colunas 100% vazias e 11 com &gt;97% de ausência.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013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egoe UI"/>
              </a:defRPr>
            </a:pPr>
            <a:r>
              <a:t>2. Dicionário &amp; Limpeza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Atividade 2 • Triagem 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860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Confronto com Dicionário Oficial do SINAN.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Eliminação de metadados hospitalares e IDs.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Fixação do limiar de corte de 60% de incompletude.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013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3. Resgate &amp; 4 Regras Fixas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Atividade 3 • Regras de Negócio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Resgate das 108 colunas; coorte de 603k registros.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Desfecho binário TARGET e decodificação da idade.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Redução sistemática para 26 preditores candidatos.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873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4. Pós-Óbito &amp; Partição 80/20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Atividade 4 • Isolamento &amp; Leis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Expurgo de 4.095 notificações pós-óbito (leakage).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Discretização etária legal (Leis 8.069/90 e 10.741/03).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Divisão estratificada 80/20 com hold-out estrito.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77639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0873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5. Feature Selection no Treino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Atividade 4 • Ranqueamento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720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V de Cramér e correlação ponto-bisserial no treino.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P-valor assintótico inadequado para ranqueamento.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Seleção do Top 22 preditores (V &gt;= 0,0325).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77639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408736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6. Undersampling 1:1 &amp; Gráfico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Atividade 4 • Balanceamento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5720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Random Undersampling 1:1 apenas no treino (48k).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Preservação do teste na proporção real (5,10%).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Gráfico de letalidade real pré-balanceamento.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1 • ATIVIDADE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Diagnóstico de Completude e Tratamento de Faltantes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Identificação precisa de omissões cadastrais em sistemas de notificação compulsória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Alves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4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O QUE FOI FEITO &amp; POR QUE FOI FEITO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Leitura Integral dos 884.221 Registros: Carregamento das 108 variáveis da coorte pulmonar utilizando keep_default_na=False no Pandas.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Captura de Strings Vazias (""): No SINAN, campos em branco ingressam como texto vazio. A leitura padrão trataria como preenchido, mascarando ausências.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Contagem Absoluta e Percentual: Catalogação exata de nulos para todas as 108 colunas (cálculo reproduzível na Célula 9 do notebook e em taia.py).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Fundamentação Teórica (Little &amp; Rubin, 2019): A ausência cadastral no SUS constitui Ausência Informativa (MAR/MNAR), correlacionada à vulnerabilidade.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Rejeição da Exclusão de Linhas (Listwise Deletion): Evita atrito de casos graves e viés amostral severo.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Rejeição da Imputação por Média/Mediana: Evita atenuação espúria da variância e subestimação do erro-padrão.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SAÍDAS OBTIDAS: TOP VARIÁVEIS COM MAIOR INCOMPLETUDE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240280"/>
          <a:ext cx="48463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94560"/>
                <a:gridCol w="822960"/>
                <a:gridCol w="731520"/>
              </a:tblGrid>
              <a:tr h="34082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Atributo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Significado Clínico / Operacional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Qtd Faltante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% Faltante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CS_FLXRET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Fluxo de retorno da notificação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884.221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FLXRECEBI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Fluxo de recebimento municipal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884.221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DT_TRANSRM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Data de transferência regional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884.221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IDADEminutos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 expressa em minutos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884.221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IDADEhoras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 expressa em horas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883.658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99,94%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EXTRAPUL_O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Outra localização extrapulmonar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883.569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99,93%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IDADEdias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 expressa em dias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882.903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99,85%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IDADEmeses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 expressa em meses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882.269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99,78%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DT_TRANSDM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Data de transferência distrital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874.738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98,93%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9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DT_TRANSRS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Data de transição regional saúde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872.564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98,68%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2 • ATIVIDADE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Dicionário de Dados e Limpeza Exploratória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Depuração de metadados operacionais e isolamento inicial do desfecho clínico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Alves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5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DIRETRIZES DO DICIONÁRIO &amp; LIMPEZA INICIAL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Confronto com o Dicionário do SINAN: Avaliação do significado clínico vs puramente administrativo de cada variável.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Exclusão de Metadados de Sistema: Remoção de identificadores operacionais (chaves de digitação, carimbos de fluxo, IDs).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Fixação do Limiar de 60%: Descarte de atributos cuja taxa de ausência estrutural superava 60%, inviabilizando uso clínico.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Isolamento Preventivo do Alvo: Separação imediata de SITUA_ENCE para evitar contaminação do espaço de atributos preditores.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Reconhecimento de Limitações da Exploração: Na triagem inicial, algumas variáveis sociais (ex.: POP_RUA) foram descartadas e variáveis temporais foram retidas. Esse aprendizado motivou o resgate completo na Atividade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egoe UI"/>
              </a:defRPr>
            </a:pPr>
            <a:r>
              <a:t>SAÍDAS OBTIDAS: BALANÇO DA TRIAGEM EXPLORATÓRIA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331720"/>
          <a:ext cx="4846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731520"/>
                <a:gridCol w="1645920"/>
              </a:tblGrid>
              <a:tr h="35052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Classificação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Qtd Colunas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% Base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Descrição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350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Colunas Iniciais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Total de atributos originais do SINAN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Colunas Descartadas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45,4%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IDs, metadados, datas operacionais, &gt;60% nulos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50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Preditores Permanecentes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53,7%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Atributos clínicos, sociodemográficos e testes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50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Variável Dependente (Alvo)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0,9%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SITUA_ENCE (isolada do pool preditivo)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5052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Total Mantido no DF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54,6%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58 preditores candidatos + 1 alvo isolado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0" y="4617720"/>
            <a:ext cx="4846320" cy="1371600"/>
          </a:xfrm>
          <a:prstGeom prst="roundRect">
            <a:avLst/>
          </a:prstGeom>
          <a:solidFill>
            <a:srgbClr val="24324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📌 EVOLUÇÃO METODOLÓGICA PARA A ATIVIDADE 3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A triagem exploratória da Atividade 2 funcionou como diagnóstico preliminar. Para a modelagem oficial (Atividades 3 e 4), resgatou-se a base de 108 colunas do backup para recuperar variáveis sociais vitais (POP_RUA) e expurgar com rigor absoluto todos os vazamentos temporais.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3 • ATIVIDADE 3 (PARTE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Resgate Integral e Definição da Coorte de Interesse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Restrição da coorte aos desfechos elegíveis e criação da variável alvo binária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Alves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6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RESGATE &amp; CRITÉRIOS CLÍNICOS DE ELEGIBILIDADE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Resgate Total das 108 Colunas: Restauração da integridade da coorte a partir do backup bruto do SINAN.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Definição da Coorte de Interesse: Seleção exclusiva dos casos com encerramento por Cura ou Óbito por Tuberculose.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Exclusão de Desfechos Concorrentes / Não Informativos: Pacientes que abandonaram o tratamento (133k), foram transferidos (54k) ou faleceram por outras causas (33k) foram removidos (total de 280.808 casos excluídos).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Criação do Alvo Binário (TARGET): Mapeamento formal de Cura = 0 e Óbito por TB = 1.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Isolamento Rigoroso: A coluna original SITUA_ENCE foi expurgada da base e TARGET mantida isolada de qualquer cálculo de pré-processamento.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SAÍDAS OBTIDAS: FUNIL POPULACIONAL DA COORTE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33172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731520"/>
                <a:gridCol w="1645920"/>
              </a:tblGrid>
              <a:tr h="38100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Estágio da Coorte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Volume (N)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% Base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Impacto Metodológico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810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Base Bruta Original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884.221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100,00%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Notificações de TB pulmonar (2014-2024)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Outros Encerramentos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280.808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31,76%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Abandono, transferência, óbito outra causa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810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Coorte Analítica Válida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603.413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68,24%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Pacientes com Cura ou Óbito por TB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• Casos de Cura (0)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568.780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94,26%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Classe Majoritária (prevalência real)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810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• Óbitos por TB (1)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34.633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5,74%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Classe Minoritária (desfecho alvo clínico)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0" y="4754880"/>
            <a:ext cx="4846320" cy="1234440"/>
          </a:xfrm>
          <a:prstGeom prst="roundRect">
            <a:avLst/>
          </a:prstGeom>
          <a:solidFill>
            <a:srgbClr val="243248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🎯 DISTRIBUIÇÃO INICIAL DO DESFECHO</a:t>
            </a:r>
          </a:p>
          <a:p>
            <a:pPr>
              <a:defRPr sz="1000">
                <a:solidFill>
                  <a:srgbClr val="F8FAFC"/>
                </a:solidFill>
                <a:latin typeface="Calibri"/>
              </a:defRPr>
            </a:pPr>
            <a:r>
              <a:t>Cura: 568.780 registros (94,26%)  |  Óbito por TB: 34.633 registros (5,74%)</a:t>
            </a:r>
            <a:br/>
            <a:r>
              <a:t>Razão de Desbalanceamento Inicial: ~16,4 casos de cura para cada óbito por TB.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3 • ATIVIDADE 3 (PARTE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Engenharia de Variáveis e Semântica de Ausência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Correção de truncamento, agregação geográfica e tratamento contextual de nulos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Alves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7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4290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DECODIFICAÇÃO DA IDADE (NU_IDADE_N)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0632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Falha da Base Bruta: A coluna IDADE truncava centenários em 2 dígitos e misturava dias/meses.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Decodificação de 4 Dígitos: Unidade (1=horas, 2=dias, 3=meses -&gt; 0 anos; 4=anos -&gt; valor numérico real).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Preservação de Centenários: Casos legítimos de até 108 anos recuperados sem perda.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Coluna Derivada Criada: IDADE_ANOS pronta para análise estatística e discretização.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1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4B8A6"/>
                </a:solidFill>
                <a:latin typeface="Segoe UI"/>
              </a:defRPr>
            </a:pPr>
            <a:r>
              <a:t>TEMPORALIDADE &amp; AGREGAÇÃO REGIONAL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632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Ano de Diagnóstico (ANO_DIAG): Extração dos 4 primeiros dígitos da data de diagnóstico (DT_DIAG: 2014 a 2024).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Redução da Cardinalidade Municipal: Mais de 5.200 municípios brasileiros agrupados em SG_UF (27 UFs) e REGIAO (5 macrorregiões).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Ganho Computacional: Previne explosão dimensional de one-hot encoding mantendo o poder epidemiológico.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74519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IMPOSSÍVEIS &amp; SEMÂNTICA DO NÃO SE APLICA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0632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Contatos Examinados (NU_COMU_EX): Sentinelas '99', '999' e negativos convertidos em np.nan (37.770 casos corrigidos).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Gestação (CS_GESTANT): 'Não se aplica' para homens (&gt;69% da base); soma com faltantes femininos atinge 74,67% -&gt; descartada por corte de 60%.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Baciloscopia de Escarro (BACILOSC_E): 1,98% 'Não se aplica' (impossibilidade de expectorar) + 24,45% não realizada -&gt; unificada em 'Faltante'.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3 • ATIVIDADE 3 (PARTE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As 4 Regras Fixas de Descarte de Atributos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Redução determinística para 26 preditores candidatos sem contaminação estatística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Alves de 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8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OS 4 PILARES DE EXCLUSÃO (REGRAS FIXAS)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1. Constantes (&gt;99% único valor): 12 colunas descartadas (ex.: TP_NOT, FORMA [100% pulmonar], ID_AGRAVO, ID_PAIS).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2. Faltantes (&gt;60% ausência estrutural): 46 colunas descartadas (esquemas de rifampicina, isoniazida e pirazinamida com ~64% nulos; teste molecular com 62%; cultura com 65%; CS_GESTANT com 74,67%).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3. Redundantes / Derivadas: 15 colunas descartadas (idades brutas, datas completas substituídas por ANO_DIAG, municípios).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4. Vazamento Temporal: 11 colunas descartadas (DT_ENCERRA, baciloscopias de evolução mensal do 1º ao 6º mês, transferências).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Independência Amostral: As regras fixas operam na base integral df_ativ antes de qualquer particionamento.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SAÍDAS OBTIDAS: BALANÇO OFICIAL DAS 108 COLUNAS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331720"/>
          <a:ext cx="4846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640080"/>
                <a:gridCol w="731520"/>
                <a:gridCol w="1554480"/>
              </a:tblGrid>
              <a:tr h="34290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Classificação das Colunas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Qtd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% Base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Destino no Projeto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Total de Colunas Originais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100,0%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Base bruta do SINAN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Colunas Excluídas por Regras Fixas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77,8%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Descartadas (Catálogo CSV)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Colunas Originais Mantidas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22,2%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Variáveis clínicas e sociodemográficas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Colunas Derivadas Criadas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IDADE_ANOS e ANO_DIAG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Subtotal de Preditores Candidatos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Dentro da faixa meta [20, 30]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Variável Alvo Isolada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TARGET (0 = Cura, 1 = Óbito)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290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Total no DataFrame df_modelo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26 preditores candidatos + 1 alvo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0" y="5212080"/>
            <a:ext cx="4846320" cy="777240"/>
          </a:xfrm>
          <a:prstGeom prst="roundRect">
            <a:avLst/>
          </a:prstGeom>
          <a:solidFill>
            <a:srgbClr val="243248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8FAFC"/>
                </a:solidFill>
                <a:latin typeface="Calibri"/>
              </a:defRPr>
            </a:pPr>
            <a:r>
              <a:t>📄 Entregável Gerado: tabela_decisao_todas_colunas.csv contendo 100% das 108 colunas catalogadas com significado clínico, % de faltantes, decisão (Fica/Sai) e justificativa.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TRANSIÇÃO FORMAL DE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Transição entre os Apresentadores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Síntese da primeira metade e introdução da modelagem preditiva avançada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$\rightarrow$ Lázaro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9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PARTE I CONCLUÍDA: DIAGNÓSTICO &amp; REGRAS FIXAS</a:t>
            </a:r>
          </a:p>
          <a:p>
            <a:pPr>
              <a:defRPr sz="1000" b="1">
                <a:solidFill>
                  <a:srgbClr val="94A3B8"/>
                </a:solidFill>
                <a:latin typeface="Calibri"/>
              </a:defRPr>
            </a:pPr>
            <a:r>
              <a:t>👤 Apresentador: Kevin Luís Alves de Lima (Slides 1 a 9)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Diagnóstico Inicial de Faltantes (Ativ 1): Identificação de 4 colunas 100% vazias e 11 com &gt;97% via keep_default_na=False e strings vazias.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Triagem com Dicionário do SINAN (Ativ 2): Corte de 60% e descarte de metadados operacionais e IDs.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Resgate Total e Desfecho Binário (Ativ 3): Coorte com 603.413 pacientes elegíveis (94,26% Cura vs 5,74% Óbito).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Engenharia de Variáveis (Ativ 3): Decodificação da idade (NU_IDADE_N), extração de ANO_DIAG e agregação em SG_UF e REGIAO.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Tratamento Semântico e 4 Regras Fixas (Ativ 3): 84 colunas descartadas e 26 preditores candidatos consolidados.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egoe UI"/>
              </a:defRPr>
            </a:pPr>
            <a:r>
              <a:t>A SEGUIR NA PARTE II: MODELAGEM, SELEÇÃO &amp; RUS</a:t>
            </a:r>
          </a:p>
          <a:p>
            <a:pPr>
              <a:defRPr sz="1000" b="1">
                <a:solidFill>
                  <a:srgbClr val="94A3B8"/>
                </a:solidFill>
                <a:latin typeface="Calibri"/>
              </a:defRPr>
            </a:pPr>
            <a:r>
              <a:t>👤 Apresentador: Lázaro Felipe da Rocha Santos (Slides 10 a 18)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Expurgo do Pós-Óbito (Ativ 4): Eliminação de 4.095 registros com causalidade reversa (target leakage grave).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Discretização Legal da Idade (Ativ 4): Enquadramento nas Leis 8.069/90 e 10.741/03 e missingness de Little &amp; Rubin.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Divisão 80/20 Estratificada (Ativ 4): Blindagem do teste e imputação univariada sem vazamento.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Seleção Univariada no Treino (Ativ 4): Ranqueamento por V de Cramér e ponto-bisserial refinando para Top 22.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Balanceamento por Random Undersampling 1:1 (Ativ 4): Treino balanceado (48k) com teste intacto (119k).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Análise Gráfica Pré-Balanceamento &amp; Auditoria Formal: Validação clínica da letalidade e relatório de conformidade.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4 • ATIVIDADE 4 (PARTE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Expurgo de Vazamento de Alvo: O Filtro Pós-Óbito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Identificação e eliminação de causalidade reversa em registros originados de Declaração de Óbito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10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Segoe UI"/>
              </a:defRPr>
            </a:pPr>
            <a:r>
              <a:t>O ACHADO FORENSE &amp; A CAUSALIDADE REVERSA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Descoberta na Variável TRATAMENTO: Identificados 4.095 registros com a condição de entrada 'Pós-óbito'.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Letalidade na Entrada de 99,85%: Desses 4.095 casos, 4.089 já ingressavam no sistema com desfecho Óbito por TB (e apenas 6 curas por erro cadastral).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Mecanismo da Vigilância em Saúde: Casos não diagnosticados em vida; a notificação ocorre compulsoriamente via necropsia do SVO ou Declaração de Óbito (DO).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Risco Crítico de Target Leakage: Em predição prospectiva na UBS, o paciente está vivo. Manter esses casos faria o modelo 'adivinhar' a morte pela etiqueta administrativa, inflacionando a acurácia de forma fraudulenta.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Ação Corretiva: Expurgo sumário dos 4.095 casos e conversão de 1.766 sentinelas 'Não sabe' em 'Faltante'.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SAÍDAS OBTIDAS: COORTE VÁLIDA CONSOLIDADA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33172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97280"/>
                <a:gridCol w="1097280"/>
              </a:tblGrid>
              <a:tr h="402336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Métrica da Coorte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Pré-Filtro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Casos Removidos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Pós-Filtro (Final)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402336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Total de Registros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603.413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4.095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599.318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Casos de Cura (0)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568.780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 (0,15%)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568.774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402336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Óbitos por TB (1)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34.633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4.089 (99,85%)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30.544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Taxa de Letalidade Real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5,74%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5,10%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400800" y="4526280"/>
            <a:ext cx="4846320" cy="1463040"/>
          </a:xfrm>
          <a:prstGeom prst="roundRect">
            <a:avLst/>
          </a:prstGeom>
          <a:solidFill>
            <a:srgbClr val="24324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🛡️ IMPACTO NA INTEGRIDADE DA MODELAGEM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A eliminação dos 4.095 casos pós-óbito reduziu os óbitos de 34.633 para 30.544, estabelecendo a taxa de letalidade epidemiológica real da coorte em 5,10%. Essa coorte limpa de 599.318 registros segue para a divisão de treino e teste.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4 • ATIVIDADE 4 (PARTE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Discretização da Idade e Fundamentação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Marcos jurídicos brasileiros, normas internacionais e preservação da ausência informativa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11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EA5E9"/>
                </a:solidFill>
                <a:latin typeface="Segoe UI"/>
              </a:defRPr>
            </a:pPr>
            <a:r>
              <a:t>AS 3 FAIXAS ETÁRIAS OFICIAIS &amp; MARCOS LEGAIS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Jovens (0 a 19 anos): Amparado no Estatuto da Criança e do Adolescente (Lei Federal nº 8.069/1990), Estatuto da Juventude (Lei nº 12.852/2013) e diretrizes da OMS e do IBGE. Captura a resposta imune pediátrica e juvenil.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Adultos (20 a 59 anos): Fundamentado no conceito de População em Idade Ativa (PIA / IBGE / Ministério da Saúde). Concentra a maioria das notificações e fatores ocupacionais.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Idosos (60 anos ou mais): Amparado no Estatuto da Pessoa Idosa (Lei Federal nº 10.741/2003 / Lei nº 14.423/2022) e Política Nacional do Idoso (Lei nº 8.842/1994). População com senescência imune e alta comorbidade.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Substituição Determinística: IDADE_ANOS foi substituída por FAIXA_ETARIA, mantendo o total de 26 preditores candidatos.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Segoe UI"/>
              </a:defRPr>
            </a:pPr>
            <a:r>
              <a:t>TEORIA DE LITTLE &amp; RUBIN: AUSÊNCIA INFORMATIVA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Volume de Faltantes na Idade: Apenas 180 casos em 599.318 registros (0,030% da coorte; 144 no treino e 36 no teste).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Mecanismo MAR / MNAR (Missingness as a Signal): No SUS, a ausência de idade não é puramente aleatória; correlaciona-se com populações de extrema vulnerabilidade (população de rua desprovida de documentos, admissão comatosa de emergência).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Rejeição da Mediana (38 anos): Imputar mediana mascararia essa vulnerabilidade e atenuaria a variância estatística amostral.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Abordagem por Categoria Ausente (Missing-Category Approach): Criada categoria explícita 'Faltante'. Modelos de árvore particionam nativamente sem perda de linhas e sem distorção clínica.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4 • ATIVIDADE 4 (PARTE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Partição Estratificada 80/20 e Isolamento Estrito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Garantia de equivalência da taxa de desfecho e blindagem metodológica do conjunto de teste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12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PARTIÇÃO ESTRATIFICADA (RANDOM_STATE = 42)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3317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097280"/>
                <a:gridCol w="1188720"/>
              </a:tblGrid>
              <a:tr h="41148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Partição Amostral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Volume Total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Curas (0)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Óbitos por TB (1)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411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Treino (80,0%)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479.454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455.019 (94,90%)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24.435 (5,10%)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Teste (20,0%)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119.864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113.755 (94,90%)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6.109 (5,10%)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41148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Coorte Válida Total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599.318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568.774 (94,90%)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30.544 (5,10%)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Amostragem Aleatória Estratificada: Preservação estrita da proporção clínica de 5,10% de óbitos em ambas as partições.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Reprodutibilidade Científica: Fixação da semente random_state=42.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Justificativa da Opção Estratificada vs Temporal: A partição temporal pura sofreria fortes distorções pela pandemia de COVID-19 (2020-2022); a estratificada assegura estabilidade epidemiológica perfeita.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BLINDAGEM &amp; PROTOCOLO DO ISOLAMENTO ESTRITO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Blindagem Absoluta do Teste (Strict Hold-out): O conjunto de teste (119.864 casos) jamais participou de qualquer decisão, imputação, cálculo estatístico ou balanceamento.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Tratamento de Faltantes da Contínua (NU_COMU_EX): A mediana dos contatos examinados foi calculada unicamente sobre o treino (mediana = 1,0 contato).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Aplicação Cega: O hiperparâmetro de 1,0 contato foi aplicado cegamente ao treino e ao teste, eliminando vazamento de dados trans-partição.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Avaliação Ecológica Garantida: O teste espelha fielmente o ambiente real do SUS para posterior validação de sensibilidade, especificidade e calibração de risco.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5 • ATIVIDADE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Seleção Univariada de Atributos no Treino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Ranqueamento por magnitude de efeito padronizada e refinamento para 22 preditores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13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O PARADOXO DO P-VALOR EM BIG DATA POPULACIONAL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Inadequação do P-Valor Puro: Em amostras massivas (N = 479.454), o poder estatístico assintótico é máximo. Todas as 26 variáveis apresentaram p-valor &lt; 10^(-34). Portanto, o p-valor puro é incapaz de ranquear importância clínica real.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Métricas de Magnitude de Efeito Adotadas: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  • V de Cramér para as 25 variáveis categóricas: raiz quadrada do qui-quadrado normalizado pelo tamanho da amostra.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  • Correlação Ponto-Bisserial para NU_COMU_EX (|r|).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Execução Estrita no Treino: Todas as métricas foram calculadas exclusivamente sobre X_train e y_train.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Critério de Corte (V &gt;= 0,0325): Retenção de 22 preditores robustos, cumprindo com folga a meta recomendada de [20, 30] variáveis.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SAÍDAS OBTIDAS: TOP PREDITORES &amp; 4 DESCARTADOS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2286000"/>
          <a:ext cx="48463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188720"/>
                <a:gridCol w="1005840"/>
                <a:gridCol w="731520"/>
                <a:gridCol w="1280160"/>
              </a:tblGrid>
              <a:tr h="340821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Posto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Atributo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Decisão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FAIXA_ETARIA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0,1339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Mantido (Fator Biológico Top 1)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2º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TRATAMENTO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0,0887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Mantido (Histórico Clínico)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3º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AGRAVAIDS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0,0841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Mantido (Imunossupressão Severa)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4º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HIV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0,0768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Mantido (Coinfecção Viral)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CS_ESCOL_N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0,0759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Mantido (Determinante Social)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6º a 22º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17 variáveis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/ |r|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0,0640 - 0,0326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Mantidos (TPUNINOT, Raio-X, Álcool...)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23º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BACILOSC_E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0,0264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Descartado (Abaixo do corte de 0,0325)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24º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POP_SAUDE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0,0098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Descartado (Baixa incidência)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40821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25º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POP_IMIG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0,0090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Descartado (Restrição regional)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40829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26º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CS_RACA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 de Cramér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0,0077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Descartado (Menor associação)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6 • ATIVIDADE 4 (PARTE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Balanceamento do Treino: RUS vs NearMiss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Inviabilidade computacional de algoritmos baseados em distância e virtudes do undersampling aleatório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14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F4444"/>
                </a:solidFill>
                <a:latin typeface="Segoe UI"/>
              </a:defRPr>
            </a:pPr>
            <a:r>
              <a:t>REJEIÇÃO TÉCNICA CATEGÓRICA DO NEARMISS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Complexidade Quadrática O(N_maj * N_min): Exige calcular vizinhos mais próximos entre 455.019 curas e 24.435 óbitos.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Mais de 11 Bilhões de Cálculos de Distância: Matrizes de distância euclidiana em 22 dimensões exigem dezenas de gigabytes de RAM.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Inviabilidade Computacional: Falha de Out-Of-Memory (OOM) ou tempos de execução na escala de dezenas de horas.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Distorção Clínica &amp; Ruído de Fronteira: O NearMiss seleciona instâncias na fronteira de decisão. Em dados do SUS, isso significa capturar registros com inconsistências cadastrais ou apresentações clínicas atípicas, gerando sobreajuste severo.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  <a:latin typeface="Segoe UI"/>
              </a:defRPr>
            </a:pPr>
            <a:r>
              <a:t>VANTAGENS DO RANDOM UNDERSAMPLING (RUS) 1:1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Complexidade Linear O(N): Execução em fração de segundos, reprodutível com random_state=42.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Preservação Ecológica: Mantém a representatividade da distribuição natural dos curados em todos os municípios brasileiros.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Volume Amostral Robusto: Treino balanceado resulta em 48.870 casos (24.435 curas e 24.435 óbitos) — volume massivo para convergência de XGBoost, LightGBM e Redes Neurais.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  <a:latin typeface="Calibri"/>
              </a:defRPr>
            </a:pPr>
            <a:r>
              <a:t>• Blindagem do Teste: O balanceamento opera estritamente sobre o treino. O teste permanece com sua distribuição real de 5,10%, pois avaliar calibração em teste artificialmente balanceado destruiria a validade clínica.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ETAPA 6 • ATIVIDADE 4 (PARTE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Tabela Comparativa de Proporções Amostrais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Síntese quantitativa do particionamento e balanceamento consolidada no entregável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15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CONSOLIDAÇÃO NUMÉRICA: ARQUIVO TABELA_PROPORCOES_BALANCEAMENTO.CSV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05840" y="2377440"/>
          <a:ext cx="10149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1188720"/>
                <a:gridCol w="1280160"/>
                <a:gridCol w="1188720"/>
                <a:gridCol w="1280160"/>
                <a:gridCol w="1645920"/>
              </a:tblGrid>
              <a:tr h="434340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Partição Amostral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Casos de Cura (N)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Proporção Cura (%)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Óbitos por TB (N)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Proporção Óbito (%)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Volume Total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Representatividade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43434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Treino (Pré-Balanceamento)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455.019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94,90%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24.435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5,10%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479.454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80,00% da Coorte Válida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434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Treino (Pós-Balanceamento)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24.435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50,00%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24.435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50,00%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48.870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Amostra Balanceada 1:1 (RUS)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43434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Teste (Rigorosamente Isolado)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113.755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94,90%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6.109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5,10%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119.864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20,00% da Coorte Válida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005840" y="4343400"/>
            <a:ext cx="3291840" cy="1600200"/>
          </a:xfrm>
          <a:prstGeom prst="roundRect">
            <a:avLst/>
          </a:prstGeom>
          <a:solidFill>
            <a:srgbClr val="24324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94A3B8"/>
                </a:solidFill>
                <a:latin typeface="Segoe UI"/>
              </a:defRPr>
            </a:pPr>
            <a:r>
              <a:t>TREINO PRÉ-BALANCEAMENTO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Espelho fiel da epidemiologia do SUS. Serviu para o cálculo univariado de seleção de atributos e análise gráfica.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343400"/>
            <a:ext cx="3291840" cy="1600200"/>
          </a:xfrm>
          <a:prstGeom prst="roundRect">
            <a:avLst/>
          </a:prstGeom>
          <a:solidFill>
            <a:srgbClr val="24324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TREINO PÓS-BALANCEAMENTO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48.870 instâncias (50%/50%). Elimina o viés do classificador em direção à classe majoritária sem ruído de síntese.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4343400"/>
            <a:ext cx="3291840" cy="1600200"/>
          </a:xfrm>
          <a:prstGeom prst="roundRect">
            <a:avLst/>
          </a:prstGeom>
          <a:solidFill>
            <a:srgbClr val="243248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EA5E9"/>
                </a:solidFill>
                <a:latin typeface="Segoe UI"/>
              </a:defRPr>
            </a:pPr>
            <a:r>
              <a:t>TESTE RIGOROSAMENTE ISOLADO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119.864 instâncias mantidas na prevalência real de 5,10%. Permite mensurar Precisão, F1-Score e VPP reais.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ANÁLISE GRÁFICA • ATIVIDADE 4 (R5)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Taxa de Letalidade por Faixa Etária no Treino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Gradiente biológico monotônico de letalidade extraído estritamente sobre os dados pré-balanceamento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16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62179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rafico_desfecho_faixa_et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6035040" cy="4297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32320" y="1691640"/>
            <a:ext cx="42976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EA5E9"/>
                </a:solidFill>
                <a:latin typeface="Segoe UI"/>
              </a:defRPr>
            </a:pPr>
            <a:r>
              <a:t>ANÁLISE CLÍNICA &amp; DADOS QUANTITATIVOS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Atributo Eleito: FAIXA_ETARIA (V = 0,1339; qui-quadrado = 8.594,40; 1º lugar geral entre os 26 preditores candidatos).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População Base: Conjunto de treino pré-balanceamento (N = 479.454 registros).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Gradiente de Letalidade Observado: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  • Jovens (0 a 19): 1,28% (506 óbitos / 39.470)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  • Adultos (20 a 59): 4,07% (14.834 óbitos / 364.792)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  • Idosos (60+ anos): 12,11% (9.089 óbitos / 75.048)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  • Faltante: 4,17% (6 óbitos / 144)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  • Linha de Base Geral: 5,10% (tracejada vermelha)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Razão de Risco em Idosos: 9,46x maior que jovens!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Mecanismo Biopatológico: Imunossenescência, diagnósticos tardios e sobreposição com diabetes e hipertensão explicam a explosão de letalidade nos idosos.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  <a:latin typeface="Calibri"/>
              </a:defRPr>
            </a:pPr>
            <a:r>
              <a:t>• Por que Pré-Balanceamento: No treino pós-balanceamento, a média seria artificialmente de 50%, destruindo o perfil epidemiológico real.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AUDITORIA FORENSE &amp; CONFORMIDADE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Auditoria Integral das Atividades 1 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Avaliação minuciosa de conformidade técnica, integridade dos artefatos e relatório de pendências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Lázaro Felipe da Rocha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17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QUADRO DE CONFORMIDADE DOS REQUISITOS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2286000"/>
          <a:ext cx="48463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914400"/>
                <a:gridCol w="1005840"/>
              </a:tblGrid>
              <a:tr h="300445"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Atividade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Requisito Central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10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Evidência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00445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Ativ. 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Contagem de Faltantes &amp; Little &amp; Rubin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Atendido*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Célula 9; taia.py:88-106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0445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Ativ. 2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Dicionário, Semântica &amp; Corte 60%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Atendido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108 colunas catalogadas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00445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Ativ. 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Regras Fixas, Desfecho &amp; 26 Preditores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Atendido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603k coorte; 84 descartes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0445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Ativ. 4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Pós-Óbito (Leakage), Leis Idade &amp; 80/20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Atendido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599k coorte; split isolado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  <a:tr h="300445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Ativ. 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Feature Selection Top 22 &amp; RUS 1:1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Atendido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Top 22 retidos; 48k no treino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0450">
                <a:tc>
                  <a:txBody>
                    <a:bodyPr wrap="square" lIns="73152" rIns="73152" tIns="36576" bIns="36576"/>
                    <a:lstStyle/>
                    <a:p>
                      <a:pPr algn="l">
                        <a:defRPr sz="9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Ativ. 4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Gráfico de Letalidade Pré-Balanceamento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Atendido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ctr">
                        <a:defRPr sz="900" b="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PNG 300 DPI gerado</a:t>
                      </a:r>
                    </a:p>
                  </a:txBody>
                  <a:tcPr anchor="ctr">
                    <a:solidFill>
                      <a:srgbClr val="24324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14400" y="4526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🧪 RESULTADO DA SUÍTE DE TESTES E2E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Comando: python .agents/teamwork/e2e/test_suite.py</a:t>
            </a:r>
            <a:br/>
            <a:r>
              <a:t>Resultado: 27 testes executados em 110s • 27 APROVADOS (100% OK), 0 falhas, 0 erros. Cobre sintaxe, proporções estratificadas, faixas etárias legais, RUS 1:1 e isolamento do teste.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TRANSPARÊNCIA: APONTAMENTOS DE AUDITORIA</a:t>
            </a:r>
          </a:p>
          <a:p>
            <a:pPr>
              <a:spcAft>
                <a:spcPts val="400"/>
              </a:spcAft>
              <a:defRPr sz="980">
                <a:solidFill>
                  <a:srgbClr val="F8FAFC"/>
                </a:solidFill>
                <a:latin typeface="Calibri"/>
              </a:defRPr>
            </a:pPr>
            <a:r>
              <a:t>• Execução de Ponta a Ponta: O script taia.py executa com perfeição (exit code 0) e gerou todos os arquivos em disco.</a:t>
            </a:r>
          </a:p>
          <a:p>
            <a:pPr>
              <a:spcAft>
                <a:spcPts val="400"/>
              </a:spcAft>
              <a:defRPr sz="980">
                <a:solidFill>
                  <a:srgbClr val="F8FAFC"/>
                </a:solidFill>
                <a:latin typeface="Calibri"/>
              </a:defRPr>
            </a:pPr>
            <a:r>
              <a:t>• Pendência 1 — Outputs do JSON no Notebook: As células 22 a 47 de TAIA (2).ipynb possuem código executável idêntico a taia.py, mas estão sem blocos de output pré-renderizados no JSON.</a:t>
            </a:r>
          </a:p>
          <a:p>
            <a:pPr>
              <a:spcAft>
                <a:spcPts val="400"/>
              </a:spcAft>
              <a:defRPr sz="980">
                <a:solidFill>
                  <a:srgbClr val="F8FAFC"/>
                </a:solidFill>
                <a:latin typeface="Calibri"/>
              </a:defRPr>
            </a:pPr>
            <a:r>
              <a:t>• Recomendação Operacional: Abrir o notebook no Colab/Jupyter e rodar 'Run All' antes da entrega final aos professores.</a:t>
            </a:r>
          </a:p>
          <a:p>
            <a:pPr>
              <a:spcAft>
                <a:spcPts val="400"/>
              </a:spcAft>
              <a:defRPr sz="980">
                <a:solidFill>
                  <a:srgbClr val="F8FAFC"/>
                </a:solidFill>
                <a:latin typeface="Calibri"/>
              </a:defRPr>
            </a:pPr>
            <a:r>
              <a:t>• Pendência 2 — Contagem Absoluta no CSV: tabela_decisao_todas_colunas.csv possui % Faltantes mas omitiu a coluna absoluta (presente no script e nos slides).</a:t>
            </a:r>
          </a:p>
          <a:p>
            <a:pPr>
              <a:spcAft>
                <a:spcPts val="400"/>
              </a:spcAft>
              <a:defRPr sz="980">
                <a:solidFill>
                  <a:srgbClr val="F8FAFC"/>
                </a:solidFill>
                <a:latin typeface="Calibri"/>
              </a:defRPr>
            </a:pPr>
            <a:r>
              <a:t>• Conclusão da Auditoria: Nenhuma pendência afeta a validade metodológica; o pipeline atinge 100% de conformidade com os objetivos pedagógicos da disciplina.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CONCLUSÃO &amp; IMPACTO NO 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Conclusões e Prontidão para Modelagem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Excelência metodológica em IA biomédica voltada à redução da mortalidade por tuberculose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11480"/>
            <a:ext cx="2743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👤 Kevin Luís &amp; Lázaro Felipe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Tópicos Avançados em Inteligência Artificial • Coorte SINAN/SUS (2014–2024)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Slide 18 de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BLINDAGEM METODOLÓGICA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Zero Vazamento de Dados (Leakage): Expurgo de 4.095 notificações pós-óbito e 22 variáveis temporais.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Isolamento Rigoroso: Conjunto de teste inacessível durante decisões estatísticas e balanceamento.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Reprodutibilidade Integral: Sementes fixas e paridade completa entre notebook e script executável.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egoe UI"/>
              </a:defRPr>
            </a:pPr>
            <a:r>
              <a:t>RELEVÂNCIA CLÍNICA &amp; LEGAL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Discretização com Amparo Jurídico: Jovens (ECA), Adultos (PIA) e Idosos (Estatuto da Pessoa Idosa).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Preservação da Ausência Informativa: Respeito à teoria de Little &amp; Rubin para dados faltantes do SUS.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Fatores Biológicos &amp; Sociais: Captura de comorbidades e vulnerabilidade (rua, álcool, HIV, prisão).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87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ESPAÇO OTIMIZADO DE ATRIBUTOS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79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Top 22 Preditores Mantidos: Enquadramento perfeito no intervalo recomendado de 20 a 30 variáveis.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Descarte Fundamentado: Eliminação de 4 atributos redundantes ou com menor relevância univariada.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Facilidade de Coleta: Todas as variáveis disponíveis na primeira consulta da atenção primária (UBS).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39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873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PRONTIDÃO PARA APRENDIZADO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79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Treino Balanceado (48.870 casos): Pronto para algoritmos como XGBoost, LightGBM, Random Forest e Redes Neurais.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Teste Realista (119.864 casos): Avaliação ecológica de Precisão, Recall e Calibração de Risco no SUS.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Calibri"/>
              </a:defRPr>
            </a:pPr>
            <a:r>
              <a:t>• Impacto Sanitário: Potencial real para apoiar equipes de saúde a salvar vidas no combate à tuberculose.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